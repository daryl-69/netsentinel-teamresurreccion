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every «placeholder» before submission. The one-line hook is: modern intrusions do not use malware domains, they use GitHub, Telegram and Google Drive. We detect the ORDER those services are used in, not the services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61% is ours, measured on our own capture — say 'we measured'. If asked how we read QUIC: Initial packets are protected with a salt published in RFC 9001 section 5.2 plus the client's own connection ID, which is in cleartext in the same packet. Reading the handshake is the documented design, not an attack and not TLS interception. We get the hostname and nothing else. netsentinel_v2/quic.py, verified by test_quic.py against the RFC's own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if asked to compress: 'We detect the combination and the shape, not the destination.'
This used to say 'the SEQUENCE'. We changed it because we ran the experiment (ablation_order.py) and the claim did not survive: permuting the hours of a day changes the model's score by 0.000 AUC, and an order-free baseline scores 1.000 against our 0.998. If a judge asks whether order matters, the honest answer is 'we tested it, it does not, here is the table' — that is a stronger position than a claim that dies to one line of numpy.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'what is actually new here' — the answer is the cross-service framing and the dataset. Everything else is honest engineering on published components, and saying so buys credibility.
If they push on ORDER specifically: we tested it and order is not what is carrying the detection. Permuting the hours of a day moves our AUC by 0.000. We kept the cross-service claim, which the same experiment supports, and dropped the ordering claim, which it does not. ablation_order.py,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weakness on this slide. A panel that finds a flaw you hid stops believing the rest; a panel you hand the flaw to starts trusting you.
Both risks here are ones we generated ourselves with experiments designed to fail. If asked 'what would change your mind about the project' — the order ablation already did, and we changed the claim on slide 3 because of it.
The green line is the good news and it is worth saying out loud: the obvious attack on a diode pitch is 'your features need return traffic'. We measured it. They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fill the result slot with anything you have not run. If inject_demo.py has not passed its benign-surge control by submission, delete the box and say the experiment is pending — that is a defensible position and an invented number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0"/>
        </a:solidFill>
      </p:bgPr>
    </p:bg>
    <p:spTree>
      <p:nvGrpSpPr>
        <p:cNvPr id="1" name=""/>
        <p:cNvGrpSpPr/>
        <p:nvPr/>
      </p:nvGrpSpPr>
      <p:grpSpPr>
        <a:xfrm>
          <a:off x="0" y="0"/>
          <a:ext cx="0" cy="0"/>
          <a:chOff x="0" y="0"/>
          <a:chExt cx="0" cy="0"/>
        </a:xfrm>
      </p:grpSpPr>
      <p:sp>
        <p:nvSpPr>
          <p:cNvPr id="2" name="Shape 0"/>
          <p:cNvSpPr/>
          <p:nvPr/>
        </p:nvSpPr>
        <p:spPr>
          <a:xfrm>
            <a:off x="7360920" y="1051560"/>
            <a:ext cx="4343400" cy="4800600"/>
          </a:xfrm>
          <a:prstGeom prst="roundRect">
            <a:avLst>
              <a:gd name="adj" fmla="val 2105"/>
            </a:avLst>
          </a:prstGeom>
          <a:solidFill>
            <a:srgbClr val="16304F"/>
          </a:solidFill>
          <a:ln w="9525">
            <a:solidFill>
              <a:srgbClr val="27476F"/>
            </a:solidFill>
            <a:prstDash val="solid"/>
          </a:ln>
        </p:spPr>
      </p:sp>
      <p:sp>
        <p:nvSpPr>
          <p:cNvPr id="3" name="Text 1"/>
          <p:cNvSpPr txBox="1"/>
          <p:nvPr/>
        </p:nvSpPr>
        <p:spPr>
          <a:xfrm>
            <a:off x="640080" y="658368"/>
            <a:ext cx="6400800" cy="274320"/>
          </a:xfrm>
          <a:prstGeom prst="rect">
            <a:avLst/>
          </a:prstGeom>
          <a:noFill/>
          <a:ln/>
        </p:spPr>
        <p:txBody>
          <a:bodyPr wrap="square" lIns="0" tIns="0" rIns="0" bIns="0" rtlCol="0" anchor="ctr"/>
          <a:lstStyle/>
          <a:p>
            <a:pPr indent="0" marL="0">
              <a:buNone/>
            </a:pPr>
            <a:r>
              <a:rPr lang="en-US" sz="1200" b="1" spc="220" kern="0" dirty="0">
                <a:solidFill>
                  <a:srgbClr val="7FB6F2"/>
                </a:solidFill>
                <a:latin typeface="Calibri" pitchFamily="34" charset="0"/>
                <a:ea typeface="Calibri" pitchFamily="34" charset="-122"/>
                <a:cs typeface="Calibri" pitchFamily="34" charset="-120"/>
              </a:rPr>
              <a:t>SMART INDIA HACKATHON 2026</a:t>
            </a:r>
            <a:endParaRPr lang="en-US" sz="1200" dirty="0"/>
          </a:p>
        </p:txBody>
      </p:sp>
      <p:sp>
        <p:nvSpPr>
          <p:cNvPr id="4" name="Text 2"/>
          <p:cNvSpPr txBox="1"/>
          <p:nvPr/>
        </p:nvSpPr>
        <p:spPr>
          <a:xfrm>
            <a:off x="640080" y="1143000"/>
            <a:ext cx="64922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NetSentinel</a:t>
            </a:r>
            <a:endParaRPr lang="en-US" sz="5400" dirty="0"/>
          </a:p>
        </p:txBody>
      </p:sp>
      <p:sp>
        <p:nvSpPr>
          <p:cNvPr id="5" name="Text 3"/>
          <p:cNvSpPr txBox="1"/>
          <p:nvPr/>
        </p:nvSpPr>
        <p:spPr>
          <a:xfrm>
            <a:off x="640080" y="2057400"/>
            <a:ext cx="6492240" cy="502920"/>
          </a:xfrm>
          <a:prstGeom prst="rect">
            <a:avLst/>
          </a:prstGeom>
          <a:noFill/>
          <a:ln/>
        </p:spPr>
        <p:txBody>
          <a:bodyPr wrap="square" lIns="0" tIns="0" rIns="0" bIns="0" rtlCol="0" anchor="ctr"/>
          <a:lstStyle/>
          <a:p>
            <a:pPr indent="0" marL="0">
              <a:buNone/>
            </a:pPr>
            <a:r>
              <a:rPr lang="en-US" sz="2100" i="1" dirty="0">
                <a:solidFill>
                  <a:srgbClr val="CADCFC"/>
                </a:solidFill>
                <a:latin typeface="Cambria" pitchFamily="34" charset="0"/>
                <a:ea typeface="Cambria" pitchFamily="34" charset="-122"/>
                <a:cs typeface="Cambria" pitchFamily="34" charset="-120"/>
              </a:rPr>
              <a:t>Catching kill chains that ride trusted services.</a:t>
            </a:r>
            <a:endParaRPr lang="en-US" sz="2100" dirty="0"/>
          </a:p>
        </p:txBody>
      </p:sp>
      <p:sp>
        <p:nvSpPr>
          <p:cNvPr id="6" name="Text 4"/>
          <p:cNvSpPr txBox="1"/>
          <p:nvPr/>
        </p:nvSpPr>
        <p:spPr>
          <a:xfrm>
            <a:off x="640080" y="2697480"/>
            <a:ext cx="6400800" cy="914400"/>
          </a:xfrm>
          <a:prstGeom prst="rect">
            <a:avLst/>
          </a:prstGeom>
          <a:noFill/>
          <a:ln/>
        </p:spPr>
        <p:txBody>
          <a:bodyPr wrap="square" lIns="0" tIns="0" rIns="0" bIns="0" rtlCol="0" anchor="ctr"/>
          <a:lstStyle/>
          <a:p>
            <a:pPr indent="0" marL="0">
              <a:lnSpc>
                <a:spcPct val="115000"/>
              </a:lnSpc>
              <a:buNone/>
            </a:pPr>
            <a:r>
              <a:rPr lang="en-US" sz="1350" dirty="0">
                <a:solidFill>
                  <a:srgbClr val="B9CBE4"/>
                </a:solidFill>
                <a:latin typeface="Calibri" pitchFamily="34" charset="0"/>
                <a:ea typeface="Calibri" pitchFamily="34" charset="-122"/>
                <a:cs typeface="Calibri" pitchFamily="34" charset="-120"/>
              </a:rPr>
              <a:t>A passive, agentless AI intrusion-detection layer for unidirectional networks behind data diodes — nuclear, defence and SCADA. No DPI. No signatures. No payload ever written to disk.</a:t>
            </a:r>
            <a:endParaRPr lang="en-US" sz="1350" dirty="0"/>
          </a:p>
        </p:txBody>
      </p:sp>
      <p:sp>
        <p:nvSpPr>
          <p:cNvPr id="7" name="Text 5"/>
          <p:cNvSpPr txBox="1"/>
          <p:nvPr/>
        </p:nvSpPr>
        <p:spPr>
          <a:xfrm>
            <a:off x="7635240" y="1298448"/>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PROBLEM STATEMENT ID</a:t>
            </a:r>
            <a:endParaRPr lang="en-US" sz="900" dirty="0"/>
          </a:p>
        </p:txBody>
      </p:sp>
      <p:sp>
        <p:nvSpPr>
          <p:cNvPr id="8" name="Text 6"/>
          <p:cNvSpPr txBox="1"/>
          <p:nvPr/>
        </p:nvSpPr>
        <p:spPr>
          <a:xfrm>
            <a:off x="7635240" y="1499616"/>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«PS ID»</a:t>
            </a:r>
            <a:endParaRPr lang="en-US" sz="1350" dirty="0"/>
          </a:p>
        </p:txBody>
      </p:sp>
      <p:sp>
        <p:nvSpPr>
          <p:cNvPr id="9" name="Text 7"/>
          <p:cNvSpPr txBox="1"/>
          <p:nvPr/>
        </p:nvSpPr>
        <p:spPr>
          <a:xfrm>
            <a:off x="7635240" y="1920240"/>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PROBLEM STATEMENT TITLE</a:t>
            </a:r>
            <a:endParaRPr lang="en-US" sz="900" dirty="0"/>
          </a:p>
        </p:txBody>
      </p:sp>
      <p:sp>
        <p:nvSpPr>
          <p:cNvPr id="10" name="Text 8"/>
          <p:cNvSpPr txBox="1"/>
          <p:nvPr/>
        </p:nvSpPr>
        <p:spPr>
          <a:xfrm>
            <a:off x="7635240" y="2121408"/>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«PS TITLE»</a:t>
            </a:r>
            <a:endParaRPr lang="en-US" sz="1350" dirty="0"/>
          </a:p>
        </p:txBody>
      </p:sp>
      <p:sp>
        <p:nvSpPr>
          <p:cNvPr id="11" name="Text 9"/>
          <p:cNvSpPr txBox="1"/>
          <p:nvPr/>
        </p:nvSpPr>
        <p:spPr>
          <a:xfrm>
            <a:off x="7635240" y="2542032"/>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THEME</a:t>
            </a:r>
            <a:endParaRPr lang="en-US" sz="900" dirty="0"/>
          </a:p>
        </p:txBody>
      </p:sp>
      <p:sp>
        <p:nvSpPr>
          <p:cNvPr id="12" name="Text 10"/>
          <p:cNvSpPr txBox="1"/>
          <p:nvPr/>
        </p:nvSpPr>
        <p:spPr>
          <a:xfrm>
            <a:off x="7635240" y="2743200"/>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«THEME — e.g. Blockchain &amp; Cybersecurity»</a:t>
            </a:r>
            <a:endParaRPr lang="en-US" sz="1350" dirty="0"/>
          </a:p>
        </p:txBody>
      </p:sp>
      <p:sp>
        <p:nvSpPr>
          <p:cNvPr id="13" name="Text 11"/>
          <p:cNvSpPr txBox="1"/>
          <p:nvPr/>
        </p:nvSpPr>
        <p:spPr>
          <a:xfrm>
            <a:off x="7635240" y="3163824"/>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PS CATEGORY</a:t>
            </a:r>
            <a:endParaRPr lang="en-US" sz="900" dirty="0"/>
          </a:p>
        </p:txBody>
      </p:sp>
      <p:sp>
        <p:nvSpPr>
          <p:cNvPr id="14" name="Text 12"/>
          <p:cNvSpPr txBox="1"/>
          <p:nvPr/>
        </p:nvSpPr>
        <p:spPr>
          <a:xfrm>
            <a:off x="7635240" y="3364992"/>
            <a:ext cx="384048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Software</a:t>
            </a:r>
            <a:endParaRPr lang="en-US" sz="1350" dirty="0"/>
          </a:p>
        </p:txBody>
      </p:sp>
      <p:sp>
        <p:nvSpPr>
          <p:cNvPr id="15" name="Text 13"/>
          <p:cNvSpPr txBox="1"/>
          <p:nvPr/>
        </p:nvSpPr>
        <p:spPr>
          <a:xfrm>
            <a:off x="7635240" y="3785616"/>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TEAM ID</a:t>
            </a:r>
            <a:endParaRPr lang="en-US" sz="900" dirty="0"/>
          </a:p>
        </p:txBody>
      </p:sp>
      <p:sp>
        <p:nvSpPr>
          <p:cNvPr id="16" name="Text 14"/>
          <p:cNvSpPr txBox="1"/>
          <p:nvPr/>
        </p:nvSpPr>
        <p:spPr>
          <a:xfrm>
            <a:off x="7635240" y="3986784"/>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«TEAM ID»</a:t>
            </a:r>
            <a:endParaRPr lang="en-US" sz="1350" dirty="0"/>
          </a:p>
        </p:txBody>
      </p:sp>
      <p:sp>
        <p:nvSpPr>
          <p:cNvPr id="17" name="Text 15"/>
          <p:cNvSpPr txBox="1"/>
          <p:nvPr/>
        </p:nvSpPr>
        <p:spPr>
          <a:xfrm>
            <a:off x="7635240" y="4407408"/>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TEAM NAME</a:t>
            </a:r>
            <a:endParaRPr lang="en-US" sz="900" dirty="0"/>
          </a:p>
        </p:txBody>
      </p:sp>
      <p:sp>
        <p:nvSpPr>
          <p:cNvPr id="18" name="Text 16"/>
          <p:cNvSpPr txBox="1"/>
          <p:nvPr/>
        </p:nvSpPr>
        <p:spPr>
          <a:xfrm>
            <a:off x="7635240" y="4608576"/>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«TEAM NAME»</a:t>
            </a:r>
            <a:endParaRPr lang="en-US" sz="1350" dirty="0"/>
          </a:p>
        </p:txBody>
      </p:sp>
      <p:sp>
        <p:nvSpPr>
          <p:cNvPr id="19" name="Text 17"/>
          <p:cNvSpPr txBox="1"/>
          <p:nvPr/>
        </p:nvSpPr>
        <p:spPr>
          <a:xfrm>
            <a:off x="7635240" y="5029200"/>
            <a:ext cx="3840480" cy="201168"/>
          </a:xfrm>
          <a:prstGeom prst="rect">
            <a:avLst/>
          </a:prstGeom>
          <a:noFill/>
          <a:ln/>
        </p:spPr>
        <p:txBody>
          <a:bodyPr wrap="square" lIns="0" tIns="0" rIns="0" bIns="0" rtlCol="0" anchor="ctr"/>
          <a:lstStyle/>
          <a:p>
            <a:pPr indent="0" marL="0">
              <a:buNone/>
            </a:pPr>
            <a:r>
              <a:rPr lang="en-US" sz="900" b="1" spc="120" kern="0" dirty="0">
                <a:solidFill>
                  <a:srgbClr val="7FB6F2"/>
                </a:solidFill>
                <a:latin typeface="Calibri" pitchFamily="34" charset="0"/>
                <a:ea typeface="Calibri" pitchFamily="34" charset="-122"/>
                <a:cs typeface="Calibri" pitchFamily="34" charset="-120"/>
              </a:rPr>
              <a:t>INSTITUTION</a:t>
            </a:r>
            <a:endParaRPr lang="en-US" sz="900" dirty="0"/>
          </a:p>
        </p:txBody>
      </p:sp>
      <p:sp>
        <p:nvSpPr>
          <p:cNvPr id="20" name="Text 18"/>
          <p:cNvSpPr txBox="1"/>
          <p:nvPr/>
        </p:nvSpPr>
        <p:spPr>
          <a:xfrm>
            <a:off x="7635240" y="5230368"/>
            <a:ext cx="3840480" cy="310896"/>
          </a:xfrm>
          <a:prstGeom prst="rect">
            <a:avLst/>
          </a:prstGeom>
          <a:noFill/>
          <a:ln/>
        </p:spPr>
        <p:txBody>
          <a:bodyPr wrap="square" lIns="0" tIns="0" rIns="0" bIns="0" rtlCol="0" anchor="ctr"/>
          <a:lstStyle/>
          <a:p>
            <a:pPr indent="0" marL="0">
              <a:buNone/>
            </a:pPr>
            <a:r>
              <a:rPr lang="en-US" sz="1350" b="1" dirty="0">
                <a:solidFill>
                  <a:srgbClr val="FFE082"/>
                </a:solidFill>
                <a:latin typeface="Calibri" pitchFamily="34" charset="0"/>
                <a:ea typeface="Calibri" pitchFamily="34" charset="-122"/>
                <a:cs typeface="Calibri" pitchFamily="34" charset="-120"/>
              </a:rPr>
              <a:t>«INSTITUTION NAME»</a:t>
            </a:r>
            <a:endParaRPr lang="en-US" sz="1350" dirty="0"/>
          </a:p>
        </p:txBody>
      </p:sp>
      <p:sp>
        <p:nvSpPr>
          <p:cNvPr id="21" name="Text 19"/>
          <p:cNvSpPr txBox="1"/>
          <p:nvPr/>
        </p:nvSpPr>
        <p:spPr>
          <a:xfrm>
            <a:off x="640080" y="6144768"/>
            <a:ext cx="7315200" cy="274320"/>
          </a:xfrm>
          <a:prstGeom prst="rect">
            <a:avLst/>
          </a:prstGeom>
          <a:noFill/>
          <a:ln/>
        </p:spPr>
        <p:txBody>
          <a:bodyPr wrap="square" lIns="0" tIns="0" rIns="0" bIns="0" rtlCol="0" anchor="ctr"/>
          <a:lstStyle/>
          <a:p>
            <a:pPr indent="0" marL="0">
              <a:buNone/>
            </a:pPr>
            <a:r>
              <a:rPr lang="en-US" sz="1050" i="1" dirty="0">
                <a:solidFill>
                  <a:srgbClr val="FFE082"/>
                </a:solidFill>
                <a:latin typeface="Calibri" pitchFamily="34" charset="0"/>
                <a:ea typeface="Calibri" pitchFamily="34" charset="-122"/>
                <a:cs typeface="Calibri" pitchFamily="34" charset="-120"/>
              </a:rPr>
              <a:t>Yellow «angle-bracket» text is a placeholder — replace before submitting.</a:t>
            </a:r>
            <a:endParaRPr lang="en-US" sz="1050" dirty="0"/>
          </a:p>
        </p:txBody>
      </p:sp>
      <p:sp>
        <p:nvSpPr>
          <p:cNvPr id="22" name="Text 20"/>
          <p:cNvSpPr txBox="1"/>
          <p:nvPr/>
        </p:nvSpPr>
        <p:spPr>
          <a:xfrm>
            <a:off x="640080" y="3977640"/>
            <a:ext cx="2103120" cy="502920"/>
          </a:xfrm>
          <a:prstGeom prst="rect">
            <a:avLst/>
          </a:prstGeom>
          <a:noFill/>
          <a:ln/>
        </p:spPr>
        <p:txBody>
          <a:bodyPr wrap="square" lIns="0" tIns="0" rIns="0" bIns="0" rtlCol="0" anchor="t"/>
          <a:lstStyle/>
          <a:p>
            <a:pPr indent="0" marL="0">
              <a:buNone/>
            </a:pPr>
            <a:r>
              <a:rPr lang="en-US" sz="3000" b="1" dirty="0">
                <a:solidFill>
                  <a:srgbClr val="7FE3BC"/>
                </a:solidFill>
                <a:latin typeface="Cambria" pitchFamily="34" charset="0"/>
                <a:ea typeface="Cambria" pitchFamily="34" charset="-122"/>
                <a:cs typeface="Cambria" pitchFamily="34" charset="-120"/>
              </a:rPr>
              <a:t>0.992</a:t>
            </a:r>
            <a:endParaRPr lang="en-US" sz="3000" dirty="0"/>
          </a:p>
        </p:txBody>
      </p:sp>
      <p:sp>
        <p:nvSpPr>
          <p:cNvPr id="23" name="Text 21"/>
          <p:cNvSpPr txBox="1"/>
          <p:nvPr/>
        </p:nvSpPr>
        <p:spPr>
          <a:xfrm>
            <a:off x="640080" y="4498848"/>
            <a:ext cx="2103120" cy="566928"/>
          </a:xfrm>
          <a:prstGeom prst="rect">
            <a:avLst/>
          </a:prstGeom>
          <a:noFill/>
          <a:ln/>
        </p:spPr>
        <p:txBody>
          <a:bodyPr wrap="square" lIns="0" tIns="0" rIns="0" bIns="0" rtlCol="0" anchor="t"/>
          <a:lstStyle/>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Sentry–Inspector agreement (AUC),</a:t>
            </a:r>
            <a:endParaRPr lang="en-US" sz="1050" dirty="0"/>
          </a:p>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real enterprise traffic, 3 seeds</a:t>
            </a:r>
            <a:endParaRPr lang="en-US" sz="1050" dirty="0"/>
          </a:p>
        </p:txBody>
      </p:sp>
      <p:sp>
        <p:nvSpPr>
          <p:cNvPr id="24" name="Text 22"/>
          <p:cNvSpPr txBox="1"/>
          <p:nvPr/>
        </p:nvSpPr>
        <p:spPr>
          <a:xfrm>
            <a:off x="2852928" y="3977640"/>
            <a:ext cx="2103120" cy="502920"/>
          </a:xfrm>
          <a:prstGeom prst="rect">
            <a:avLst/>
          </a:prstGeom>
          <a:noFill/>
          <a:ln/>
        </p:spPr>
        <p:txBody>
          <a:bodyPr wrap="square" lIns="0" tIns="0" rIns="0" bIns="0" rtlCol="0" anchor="t"/>
          <a:lstStyle/>
          <a:p>
            <a:pPr indent="0" marL="0">
              <a:buNone/>
            </a:pPr>
            <a:r>
              <a:rPr lang="en-US" sz="3000" b="1" dirty="0">
                <a:solidFill>
                  <a:srgbClr val="7FE3BC"/>
                </a:solidFill>
                <a:latin typeface="Cambria" pitchFamily="34" charset="0"/>
                <a:ea typeface="Cambria" pitchFamily="34" charset="-122"/>
                <a:cs typeface="Cambria" pitchFamily="34" charset="-120"/>
              </a:rPr>
              <a:t>96.9%</a:t>
            </a:r>
            <a:endParaRPr lang="en-US" sz="3000" dirty="0"/>
          </a:p>
        </p:txBody>
      </p:sp>
      <p:sp>
        <p:nvSpPr>
          <p:cNvPr id="25" name="Text 23"/>
          <p:cNvSpPr txBox="1"/>
          <p:nvPr/>
        </p:nvSpPr>
        <p:spPr>
          <a:xfrm>
            <a:off x="2852928" y="4498848"/>
            <a:ext cx="2103120" cy="566928"/>
          </a:xfrm>
          <a:prstGeom prst="rect">
            <a:avLst/>
          </a:prstGeom>
          <a:noFill/>
          <a:ln/>
        </p:spPr>
        <p:txBody>
          <a:bodyPr wrap="square" lIns="0" tIns="0" rIns="0" bIns="0" rtlCol="0" anchor="t"/>
          <a:lstStyle/>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of the Inspector's flags recovered</a:t>
            </a:r>
            <a:endParaRPr lang="en-US" sz="1050" dirty="0"/>
          </a:p>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at a 5% escalation budget</a:t>
            </a:r>
            <a:endParaRPr lang="en-US" sz="1050" dirty="0"/>
          </a:p>
        </p:txBody>
      </p:sp>
      <p:sp>
        <p:nvSpPr>
          <p:cNvPr id="26" name="Text 24"/>
          <p:cNvSpPr txBox="1"/>
          <p:nvPr/>
        </p:nvSpPr>
        <p:spPr>
          <a:xfrm>
            <a:off x="5065776" y="3977640"/>
            <a:ext cx="2103120" cy="502920"/>
          </a:xfrm>
          <a:prstGeom prst="rect">
            <a:avLst/>
          </a:prstGeom>
          <a:noFill/>
          <a:ln/>
        </p:spPr>
        <p:txBody>
          <a:bodyPr wrap="square" lIns="0" tIns="0" rIns="0" bIns="0" rtlCol="0" anchor="t"/>
          <a:lstStyle/>
          <a:p>
            <a:pPr indent="0" marL="0">
              <a:buNone/>
            </a:pPr>
            <a:r>
              <a:rPr lang="en-US" sz="3000" b="1" dirty="0">
                <a:solidFill>
                  <a:srgbClr val="7FE3BC"/>
                </a:solidFill>
                <a:latin typeface="Cambria" pitchFamily="34" charset="0"/>
                <a:ea typeface="Cambria" pitchFamily="34" charset="-122"/>
                <a:cs typeface="Cambria" pitchFamily="34" charset="-120"/>
              </a:rPr>
              <a:t>13.7×</a:t>
            </a:r>
            <a:endParaRPr lang="en-US" sz="3000" dirty="0"/>
          </a:p>
        </p:txBody>
      </p:sp>
      <p:sp>
        <p:nvSpPr>
          <p:cNvPr id="27" name="Text 25"/>
          <p:cNvSpPr txBox="1"/>
          <p:nvPr/>
        </p:nvSpPr>
        <p:spPr>
          <a:xfrm>
            <a:off x="5065776" y="4498848"/>
            <a:ext cx="2103120" cy="566928"/>
          </a:xfrm>
          <a:prstGeom prst="rect">
            <a:avLst/>
          </a:prstGeom>
          <a:noFill/>
          <a:ln/>
        </p:spPr>
        <p:txBody>
          <a:bodyPr wrap="square" lIns="0" tIns="0" rIns="0" bIns="0" rtlCol="0" anchor="t"/>
          <a:lstStyle/>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smaller student model —</a:t>
            </a:r>
            <a:endParaRPr lang="en-US" sz="1050" dirty="0"/>
          </a:p>
          <a:p>
            <a:pPr indent="0" marL="0">
              <a:lnSpc>
                <a:spcPct val="100000"/>
              </a:lnSpc>
              <a:buNone/>
            </a:pPr>
            <a:r>
              <a:rPr lang="en-US" sz="1050" dirty="0">
                <a:solidFill>
                  <a:srgbClr val="9FB6D2"/>
                </a:solidFill>
                <a:latin typeface="Calibri" pitchFamily="34" charset="0"/>
                <a:ea typeface="Calibri" pitchFamily="34" charset="-122"/>
                <a:cs typeface="Calibri" pitchFamily="34" charset="-120"/>
              </a:rPr>
              <a:t>205,546 → 14,992 parameters</a:t>
            </a:r>
            <a:endParaRPr lang="en-US" sz="1050" dirty="0"/>
          </a:p>
        </p:txBody>
      </p:sp>
      <p:sp>
        <p:nvSpPr>
          <p:cNvPr id="28" name="Text 26"/>
          <p:cNvSpPr txBox="1"/>
          <p:nvPr/>
        </p:nvSpPr>
        <p:spPr>
          <a:xfrm>
            <a:off x="640080" y="5175504"/>
            <a:ext cx="6400800" cy="457200"/>
          </a:xfrm>
          <a:prstGeom prst="rect">
            <a:avLst/>
          </a:prstGeom>
          <a:noFill/>
          <a:ln/>
        </p:spPr>
        <p:txBody>
          <a:bodyPr wrap="square" lIns="0" tIns="0" rIns="0" bIns="0" rtlCol="0" anchor="t"/>
          <a:lstStyle/>
          <a:p>
            <a:pPr indent="0" marL="0">
              <a:buNone/>
            </a:pPr>
            <a:r>
              <a:rPr lang="en-US" sz="1050" i="1" dirty="0">
                <a:solidFill>
                  <a:srgbClr val="7FB6F2"/>
                </a:solidFill>
                <a:latin typeface="Calibri" pitchFamily="34" charset="0"/>
                <a:ea typeface="Calibri" pitchFamily="34" charset="-122"/>
                <a:cs typeface="Calibri" pitchFamily="34" charset="-120"/>
              </a:rPr>
              <a:t>Measured on LANL cyber1 — 612 hosts × 13 days × 749 real red-team events. Regenerated from result files, never typed by hand.</a:t>
            </a:r>
            <a:endParaRPr lang="en-US" sz="1050" dirty="0"/>
          </a:p>
        </p:txBody>
      </p:sp>
      <p:sp>
        <p:nvSpPr>
          <p:cNvPr id="29" name="Text 27"/>
          <p:cNvSpPr txBox="1"/>
          <p:nvPr/>
        </p:nvSpPr>
        <p:spPr>
          <a:xfrm>
            <a:off x="640080" y="5687568"/>
            <a:ext cx="6400800" cy="274320"/>
          </a:xfrm>
          <a:prstGeom prst="rect">
            <a:avLst/>
          </a:prstGeom>
          <a:noFill/>
          <a:ln/>
        </p:spPr>
        <p:txBody>
          <a:bodyPr wrap="square" lIns="0" tIns="0" rIns="0" bIns="0" rtlCol="0" anchor="t"/>
          <a:lstStyle/>
          <a:p>
            <a:pPr indent="0" marL="0">
              <a:buNone/>
            </a:pPr>
            <a:r>
              <a:rPr lang="en-US" sz="1300" dirty="0">
                <a:solidFill>
                  <a:srgbClr val="FFE082"/>
                </a:solidFill>
                <a:latin typeface="Calibri" pitchFamily="34" charset="0"/>
                <a:ea typeface="Calibri" pitchFamily="34" charset="-122"/>
                <a:cs typeface="Calibri" pitchFamily="34" charset="-120"/>
              </a:rPr>
              <a:t>Mentor: «MENTOR NAME», «DEPARTMENT»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02  ·  PROBLEM UNDERSTANDING</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The attacker no longer brings infrastructure. They borrow yours.</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Restated in our words: detect intrusions on networks where you cannot install an agent, cannot decrypt traffic, and cannot see the return channel.</a:t>
            </a:r>
            <a:endParaRPr lang="en-US" sz="1400" dirty="0"/>
          </a:p>
        </p:txBody>
      </p:sp>
      <p:sp>
        <p:nvSpPr>
          <p:cNvPr id="5" name="Shape 3"/>
          <p:cNvSpPr/>
          <p:nvPr/>
        </p:nvSpPr>
        <p:spPr>
          <a:xfrm>
            <a:off x="420624" y="1545336"/>
            <a:ext cx="7799832" cy="2450592"/>
          </a:xfrm>
          <a:prstGeom prst="roundRect">
            <a:avLst>
              <a:gd name="adj" fmla="val 2239"/>
            </a:avLst>
          </a:prstGeom>
          <a:solidFill>
            <a:srgbClr val="232428"/>
          </a:solidFill>
          <a:ln w="9525">
            <a:solidFill>
              <a:srgbClr val="3A3C42"/>
            </a:solidFill>
            <a:prstDash val="solid"/>
          </a:ln>
        </p:spPr>
      </p:sp>
      <p:pic>
        <p:nvPicPr>
          <p:cNvPr id="6" name="Image 0" descr="/home/claude/ppt/assets/killchain.png">    </p:cNvPr>
          <p:cNvPicPr>
            <a:picLocks noChangeAspect="1"/>
          </p:cNvPicPr>
          <p:nvPr/>
        </p:nvPicPr>
        <p:blipFill>
          <a:blip r:embed="rId1"/>
          <a:stretch>
            <a:fillRect/>
          </a:stretch>
        </p:blipFill>
        <p:spPr>
          <a:xfrm>
            <a:off x="502920" y="1627632"/>
            <a:ext cx="7635240" cy="2286000"/>
          </a:xfrm>
          <a:prstGeom prst="rect">
            <a:avLst/>
          </a:prstGeom>
        </p:spPr>
      </p:pic>
      <p:sp>
        <p:nvSpPr>
          <p:cNvPr id="7" name="Text 4"/>
          <p:cNvSpPr txBox="1"/>
          <p:nvPr/>
        </p:nvSpPr>
        <p:spPr>
          <a:xfrm>
            <a:off x="502920" y="4032504"/>
            <a:ext cx="7635240" cy="219456"/>
          </a:xfrm>
          <a:prstGeom prst="rect">
            <a:avLst/>
          </a:prstGeom>
          <a:noFill/>
          <a:ln/>
        </p:spPr>
        <p:txBody>
          <a:bodyPr wrap="square" lIns="0" tIns="0" rIns="0" bIns="0" rtlCol="0" anchor="ctr"/>
          <a:lstStyle/>
          <a:p>
            <a:pPr indent="0" marL="0">
              <a:buNone/>
            </a:pPr>
            <a:r>
              <a:rPr lang="en-US" sz="950" i="1" dirty="0">
                <a:solidFill>
                  <a:srgbClr val="7C818A"/>
                </a:solidFill>
                <a:latin typeface="Calibri" pitchFamily="34" charset="0"/>
                <a:ea typeface="Calibri" pitchFamily="34" charset="-122"/>
                <a:cs typeface="Calibri" pitchFamily="34" charset="-120"/>
              </a:rPr>
              <a:t>Living-off-Trusted-Sites kill chain. Every hop is a legitimate, allow-listed domain.</a:t>
            </a:r>
            <a:endParaRPr lang="en-US" sz="950" dirty="0"/>
          </a:p>
        </p:txBody>
      </p:sp>
      <p:sp>
        <p:nvSpPr>
          <p:cNvPr id="8" name="Shape 5"/>
          <p:cNvSpPr/>
          <p:nvPr/>
        </p:nvSpPr>
        <p:spPr>
          <a:xfrm>
            <a:off x="8366760" y="1627632"/>
            <a:ext cx="3337560" cy="1097280"/>
          </a:xfrm>
          <a:prstGeom prst="roundRect">
            <a:avLst>
              <a:gd name="adj" fmla="val 5833"/>
            </a:avLst>
          </a:prstGeom>
          <a:solidFill>
            <a:srgbClr val="F3F6FA"/>
          </a:solidFill>
          <a:ln w="9525">
            <a:solidFill>
              <a:srgbClr val="DCDFE4"/>
            </a:solidFill>
            <a:prstDash val="solid"/>
          </a:ln>
        </p:spPr>
      </p:sp>
      <p:sp>
        <p:nvSpPr>
          <p:cNvPr id="9" name="Text 6"/>
          <p:cNvSpPr txBox="1"/>
          <p:nvPr/>
        </p:nvSpPr>
        <p:spPr>
          <a:xfrm>
            <a:off x="8567928" y="1746504"/>
            <a:ext cx="2935224" cy="237744"/>
          </a:xfrm>
          <a:prstGeom prst="rect">
            <a:avLst/>
          </a:prstGeom>
          <a:noFill/>
          <a:ln/>
        </p:spPr>
        <p:txBody>
          <a:bodyPr wrap="square" lIns="0" tIns="0" rIns="0" bIns="0" rtlCol="0" anchor="t"/>
          <a:lstStyle/>
          <a:p>
            <a:pPr indent="0" marL="0">
              <a:buNone/>
            </a:pPr>
            <a:r>
              <a:rPr lang="en-US" sz="1200" b="1" dirty="0">
                <a:solidFill>
                  <a:srgbClr val="0F2340"/>
                </a:solidFill>
                <a:latin typeface="Calibri" pitchFamily="34" charset="0"/>
                <a:ea typeface="Calibri" pitchFamily="34" charset="-122"/>
                <a:cs typeface="Calibri" pitchFamily="34" charset="-120"/>
              </a:rPr>
              <a:t>WHO IS AFFECTED</a:t>
            </a:r>
            <a:endParaRPr lang="en-US" sz="1200" dirty="0"/>
          </a:p>
        </p:txBody>
      </p:sp>
      <p:sp>
        <p:nvSpPr>
          <p:cNvPr id="10" name="Text 7"/>
          <p:cNvSpPr txBox="1"/>
          <p:nvPr/>
        </p:nvSpPr>
        <p:spPr>
          <a:xfrm>
            <a:off x="8567928" y="2011680"/>
            <a:ext cx="2935224" cy="59436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Air-gapped and diode-protected networks: nuclear plants, defence installations, power grid and water SCADA. Plus every IoT, OT and BYOD endpoint that cannot run an agent.</a:t>
            </a:r>
            <a:endParaRPr lang="en-US" sz="1150" dirty="0"/>
          </a:p>
        </p:txBody>
      </p:sp>
      <p:sp>
        <p:nvSpPr>
          <p:cNvPr id="11" name="Shape 8"/>
          <p:cNvSpPr/>
          <p:nvPr/>
        </p:nvSpPr>
        <p:spPr>
          <a:xfrm>
            <a:off x="8366760" y="2816352"/>
            <a:ext cx="3337560" cy="1097280"/>
          </a:xfrm>
          <a:prstGeom prst="roundRect">
            <a:avLst>
              <a:gd name="adj" fmla="val 5833"/>
            </a:avLst>
          </a:prstGeom>
          <a:solidFill>
            <a:srgbClr val="F3F6FA"/>
          </a:solidFill>
          <a:ln w="9525">
            <a:solidFill>
              <a:srgbClr val="DCDFE4"/>
            </a:solidFill>
            <a:prstDash val="solid"/>
          </a:ln>
        </p:spPr>
      </p:sp>
      <p:sp>
        <p:nvSpPr>
          <p:cNvPr id="12" name="Text 9"/>
          <p:cNvSpPr txBox="1"/>
          <p:nvPr/>
        </p:nvSpPr>
        <p:spPr>
          <a:xfrm>
            <a:off x="8567928" y="2935224"/>
            <a:ext cx="2935224" cy="237744"/>
          </a:xfrm>
          <a:prstGeom prst="rect">
            <a:avLst/>
          </a:prstGeom>
          <a:noFill/>
          <a:ln/>
        </p:spPr>
        <p:txBody>
          <a:bodyPr wrap="square" lIns="0" tIns="0" rIns="0" bIns="0" rtlCol="0" anchor="t"/>
          <a:lstStyle/>
          <a:p>
            <a:pPr indent="0" marL="0">
              <a:buNone/>
            </a:pPr>
            <a:r>
              <a:rPr lang="en-US" sz="1200" b="1" dirty="0">
                <a:solidFill>
                  <a:srgbClr val="B3202A"/>
                </a:solidFill>
                <a:latin typeface="Calibri" pitchFamily="34" charset="0"/>
                <a:ea typeface="Calibri" pitchFamily="34" charset="-122"/>
                <a:cs typeface="Calibri" pitchFamily="34" charset="-120"/>
              </a:rPr>
              <a:t>WHY TODAY'S TOOLS MISS IT</a:t>
            </a:r>
            <a:endParaRPr lang="en-US" sz="1200" dirty="0"/>
          </a:p>
        </p:txBody>
      </p:sp>
      <p:sp>
        <p:nvSpPr>
          <p:cNvPr id="13" name="Text 10"/>
          <p:cNvSpPr txBox="1"/>
          <p:nvPr/>
        </p:nvSpPr>
        <p:spPr>
          <a:xfrm>
            <a:off x="8567928" y="3200400"/>
            <a:ext cx="2935224" cy="59436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Signature IDS needs a known bad. DNS/domain filters need a bad domain. DPI needs plaintext. EDR needs an agent on the host. A LOTS chain defeats all four at once.</a:t>
            </a:r>
            <a:endParaRPr lang="en-US" sz="1150" dirty="0"/>
          </a:p>
        </p:txBody>
      </p:sp>
      <p:sp>
        <p:nvSpPr>
          <p:cNvPr id="14" name="Text 11"/>
          <p:cNvSpPr txBox="1"/>
          <p:nvPr/>
        </p:nvSpPr>
        <p:spPr>
          <a:xfrm>
            <a:off x="502920" y="4315968"/>
            <a:ext cx="5486400" cy="274320"/>
          </a:xfrm>
          <a:prstGeom prst="rect">
            <a:avLst/>
          </a:prstGeom>
          <a:noFill/>
          <a:ln/>
        </p:spPr>
        <p:txBody>
          <a:bodyPr wrap="square" lIns="0" tIns="0" rIns="0" bIns="0" rtlCol="0" anchor="ctr"/>
          <a:lstStyle/>
          <a:p>
            <a:pPr indent="0" marL="0">
              <a:buNone/>
            </a:pPr>
            <a:r>
              <a:rPr lang="en-US" sz="1200" b="1" spc="120" kern="0" dirty="0">
                <a:solidFill>
                  <a:srgbClr val="0F2340"/>
                </a:solidFill>
                <a:latin typeface="Calibri" pitchFamily="34" charset="0"/>
                <a:ea typeface="Calibri" pitchFamily="34" charset="-122"/>
                <a:cs typeface="Calibri" pitchFamily="34" charset="-120"/>
              </a:rPr>
              <a:t>The gap, precisely</a:t>
            </a:r>
            <a:endParaRPr lang="en-US" sz="1200" dirty="0"/>
          </a:p>
        </p:txBody>
      </p:sp>
      <p:sp>
        <p:nvSpPr>
          <p:cNvPr id="15" name="Text 12"/>
          <p:cNvSpPr txBox="1"/>
          <p:nvPr/>
        </p:nvSpPr>
        <p:spPr>
          <a:xfrm>
            <a:off x="502920" y="4617720"/>
            <a:ext cx="6949440" cy="1463040"/>
          </a:xfrm>
          <a:prstGeom prst="rect">
            <a:avLst/>
          </a:prstGeom>
          <a:noFill/>
          <a:ln/>
        </p:spPr>
        <p:txBody>
          <a:bodyPr wrap="square" lIns="0" tIns="0" rIns="0" bIns="0" rtlCol="0" anchor="ctr"/>
          <a:lstStyle/>
          <a:p>
            <a:pPr marL="342900" indent="-342900">
              <a:lnSpc>
                <a:spcPct val="105000"/>
              </a:lnSpc>
              <a:spcAft>
                <a:spcPts val="700"/>
              </a:spcAft>
              <a:buSzPct val="100000"/>
              <a:buChar char="•"/>
            </a:pPr>
            <a:r>
              <a:rPr lang="en-US" sz="1200" dirty="0">
                <a:solidFill>
                  <a:srgbClr val="454A53"/>
                </a:solidFill>
                <a:latin typeface="Calibri" pitchFamily="34" charset="0"/>
                <a:ea typeface="Calibri" pitchFamily="34" charset="-122"/>
                <a:cs typeface="Calibri" pitchFamily="34" charset="-120"/>
              </a:rPr>
              <a:t>A 91-study review of graph-based NIDS found no published system that models cross-service category TRANSITIONS as the detection signal.</a:t>
            </a:r>
            <a:endParaRPr lang="en-US" sz="1200" dirty="0"/>
          </a:p>
          <a:p>
            <a:pPr marL="342900" indent="-342900">
              <a:lnSpc>
                <a:spcPct val="105000"/>
              </a:lnSpc>
              <a:spcAft>
                <a:spcPts val="700"/>
              </a:spcAft>
              <a:buSzPct val="100000"/>
              <a:buChar char="•"/>
            </a:pPr>
            <a:r>
              <a:rPr lang="en-US" sz="1200" dirty="0">
                <a:solidFill>
                  <a:srgbClr val="454A53"/>
                </a:solidFill>
                <a:latin typeface="Calibri" pitchFamily="34" charset="0"/>
                <a:ea typeface="Calibri" pitchFamily="34" charset="-122"/>
                <a:cs typeface="Calibri" pitchFamily="34" charset="-120"/>
              </a:rPr>
              <a:t>Behind a data diode the return channel is invisible by design — every request-response detector is structurally blind there.</a:t>
            </a:r>
            <a:endParaRPr lang="en-US" sz="1200" dirty="0"/>
          </a:p>
          <a:p>
            <a:pPr marL="342900" indent="-342900">
              <a:lnSpc>
                <a:spcPct val="105000"/>
              </a:lnSpc>
              <a:spcAft>
                <a:spcPts val="700"/>
              </a:spcAft>
              <a:buSzPct val="100000"/>
              <a:buChar char="•"/>
            </a:pPr>
            <a:r>
              <a:rPr lang="en-US" sz="1200" dirty="0">
                <a:solidFill>
                  <a:srgbClr val="454A53"/>
                </a:solidFill>
                <a:latin typeface="Calibri" pitchFamily="34" charset="0"/>
                <a:ea typeface="Calibri" pitchFamily="34" charset="-122"/>
                <a:cs typeface="Calibri" pitchFamily="34" charset="-120"/>
              </a:rPr>
              <a:t>Of 124 surveyed public datasets, none contains multi-day egress traffic with multi-stage campaign labels. The evaluation data does not exist.</a:t>
            </a:r>
            <a:endParaRPr lang="en-US" sz="1200" dirty="0"/>
          </a:p>
        </p:txBody>
      </p:sp>
      <p:sp>
        <p:nvSpPr>
          <p:cNvPr id="16" name="Shape 13"/>
          <p:cNvSpPr/>
          <p:nvPr/>
        </p:nvSpPr>
        <p:spPr>
          <a:xfrm>
            <a:off x="7680960" y="4279392"/>
            <a:ext cx="4023360" cy="1783080"/>
          </a:xfrm>
          <a:prstGeom prst="roundRect">
            <a:avLst>
              <a:gd name="adj" fmla="val 3590"/>
            </a:avLst>
          </a:prstGeom>
          <a:solidFill>
            <a:srgbClr val="FDF3F2"/>
          </a:solidFill>
          <a:ln w="9525">
            <a:solidFill>
              <a:srgbClr val="E8B6B3"/>
            </a:solidFill>
            <a:prstDash val="solid"/>
          </a:ln>
        </p:spPr>
      </p:sp>
      <p:sp>
        <p:nvSpPr>
          <p:cNvPr id="17" name="Text 14"/>
          <p:cNvSpPr txBox="1"/>
          <p:nvPr/>
        </p:nvSpPr>
        <p:spPr>
          <a:xfrm>
            <a:off x="7909560" y="4407408"/>
            <a:ext cx="3566160" cy="594360"/>
          </a:xfrm>
          <a:prstGeom prst="rect">
            <a:avLst/>
          </a:prstGeom>
          <a:noFill/>
          <a:ln/>
        </p:spPr>
        <p:txBody>
          <a:bodyPr wrap="square" lIns="0" tIns="0" rIns="0" bIns="0" rtlCol="0" anchor="ctr"/>
          <a:lstStyle/>
          <a:p>
            <a:pPr indent="0" marL="0">
              <a:buNone/>
            </a:pPr>
            <a:r>
              <a:rPr lang="en-US" sz="3800" b="1" dirty="0">
                <a:solidFill>
                  <a:srgbClr val="B3202A"/>
                </a:solidFill>
                <a:latin typeface="Cambria" pitchFamily="34" charset="0"/>
                <a:ea typeface="Cambria" pitchFamily="34" charset="-122"/>
                <a:cs typeface="Cambria" pitchFamily="34" charset="-120"/>
              </a:rPr>
              <a:t>61%</a:t>
            </a:r>
            <a:endParaRPr lang="en-US" sz="3800" dirty="0"/>
          </a:p>
        </p:txBody>
      </p:sp>
      <p:sp>
        <p:nvSpPr>
          <p:cNvPr id="18" name="Text 15"/>
          <p:cNvSpPr txBox="1"/>
          <p:nvPr/>
        </p:nvSpPr>
        <p:spPr>
          <a:xfrm>
            <a:off x="7909560" y="5029200"/>
            <a:ext cx="3566160" cy="914400"/>
          </a:xfrm>
          <a:prstGeom prst="rect">
            <a:avLst/>
          </a:prstGeom>
          <a:noFill/>
          <a:ln/>
        </p:spPr>
        <p:txBody>
          <a:bodyPr wrap="square" lIns="0" tIns="0" rIns="0" bIns="0" rtlCol="0" anchor="ctr"/>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of encrypted web traffic on our own measured capture is QUIC. Most sensors treat that as unreadable. We derive the RFC 9001 Initial keys and read the hostname — 16/16 published test vectors pass.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03  ·  PROPOSED SOLUTION</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Expensive eyes at commissioning. Cheap eyes always on.</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NetSentinel scores WHICH service categories a host combines and the machine-like shape of that traffic — not the domains, not the payload.</a:t>
            </a:r>
            <a:endParaRPr lang="en-US" sz="1400" dirty="0"/>
          </a:p>
        </p:txBody>
      </p:sp>
      <p:sp>
        <p:nvSpPr>
          <p:cNvPr id="5" name="Shape 3"/>
          <p:cNvSpPr/>
          <p:nvPr/>
        </p:nvSpPr>
        <p:spPr>
          <a:xfrm>
            <a:off x="420624" y="1563624"/>
            <a:ext cx="7114032" cy="4187952"/>
          </a:xfrm>
          <a:prstGeom prst="roundRect">
            <a:avLst>
              <a:gd name="adj" fmla="val 1310"/>
            </a:avLst>
          </a:prstGeom>
          <a:solidFill>
            <a:srgbClr val="232428"/>
          </a:solidFill>
          <a:ln w="9525">
            <a:solidFill>
              <a:srgbClr val="3A3C42"/>
            </a:solidFill>
            <a:prstDash val="solid"/>
          </a:ln>
        </p:spPr>
      </p:sp>
      <p:pic>
        <p:nvPicPr>
          <p:cNvPr id="6" name="Image 0" descr="/home/claude/ppt/assets/arch.png">    </p:cNvPr>
          <p:cNvPicPr>
            <a:picLocks noChangeAspect="1"/>
          </p:cNvPicPr>
          <p:nvPr/>
        </p:nvPicPr>
        <p:blipFill>
          <a:blip r:embed="rId1"/>
          <a:stretch>
            <a:fillRect/>
          </a:stretch>
        </p:blipFill>
        <p:spPr>
          <a:xfrm>
            <a:off x="502920" y="1645920"/>
            <a:ext cx="6949440" cy="4023360"/>
          </a:xfrm>
          <a:prstGeom prst="rect">
            <a:avLst/>
          </a:prstGeom>
        </p:spPr>
      </p:pic>
      <p:sp>
        <p:nvSpPr>
          <p:cNvPr id="7" name="Shape 4"/>
          <p:cNvSpPr/>
          <p:nvPr/>
        </p:nvSpPr>
        <p:spPr>
          <a:xfrm>
            <a:off x="7772400" y="1645920"/>
            <a:ext cx="3931920" cy="1325880"/>
          </a:xfrm>
          <a:prstGeom prst="roundRect">
            <a:avLst>
              <a:gd name="adj" fmla="val 4828"/>
            </a:avLst>
          </a:prstGeom>
          <a:solidFill>
            <a:srgbClr val="F3F6FA"/>
          </a:solidFill>
          <a:ln w="9525">
            <a:solidFill>
              <a:srgbClr val="DCDFE4"/>
            </a:solidFill>
            <a:prstDash val="solid"/>
          </a:ln>
        </p:spPr>
      </p:sp>
      <p:sp>
        <p:nvSpPr>
          <p:cNvPr id="8" name="Text 5"/>
          <p:cNvSpPr txBox="1"/>
          <p:nvPr/>
        </p:nvSpPr>
        <p:spPr>
          <a:xfrm>
            <a:off x="7973568" y="1764792"/>
            <a:ext cx="3529584" cy="237744"/>
          </a:xfrm>
          <a:prstGeom prst="rect">
            <a:avLst/>
          </a:prstGeom>
          <a:noFill/>
          <a:ln/>
        </p:spPr>
        <p:txBody>
          <a:bodyPr wrap="square" lIns="0" tIns="0" rIns="0" bIns="0" rtlCol="0" anchor="t"/>
          <a:lstStyle/>
          <a:p>
            <a:pPr indent="0" marL="0">
              <a:buNone/>
            </a:pPr>
            <a:r>
              <a:rPr lang="en-US" sz="1200" b="1" dirty="0">
                <a:solidFill>
                  <a:srgbClr val="0F2340"/>
                </a:solidFill>
                <a:latin typeface="Calibri" pitchFamily="34" charset="0"/>
                <a:ea typeface="Calibri" pitchFamily="34" charset="-122"/>
                <a:cs typeface="Calibri" pitchFamily="34" charset="-120"/>
              </a:rPr>
              <a:t>HOW IT SOLVES THE PROBLEM</a:t>
            </a:r>
            <a:endParaRPr lang="en-US" sz="1200" dirty="0"/>
          </a:p>
        </p:txBody>
      </p:sp>
      <p:sp>
        <p:nvSpPr>
          <p:cNvPr id="9" name="Text 6"/>
          <p:cNvSpPr txBox="1"/>
          <p:nvPr/>
        </p:nvSpPr>
        <p:spPr>
          <a:xfrm>
            <a:off x="7973568" y="2029968"/>
            <a:ext cx="3529584" cy="82296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The Inspector learns each host's own normal, unsupervised, during a commissioning window. It never needs an attack example, so it does not need a signature, a bad domain, decryption, or an agent.</a:t>
            </a:r>
            <a:endParaRPr lang="en-US" sz="1150" dirty="0"/>
          </a:p>
        </p:txBody>
      </p:sp>
      <p:sp>
        <p:nvSpPr>
          <p:cNvPr id="10" name="Shape 7"/>
          <p:cNvSpPr/>
          <p:nvPr/>
        </p:nvSpPr>
        <p:spPr>
          <a:xfrm>
            <a:off x="7772400" y="3063240"/>
            <a:ext cx="3931920" cy="1325880"/>
          </a:xfrm>
          <a:prstGeom prst="roundRect">
            <a:avLst>
              <a:gd name="adj" fmla="val 4828"/>
            </a:avLst>
          </a:prstGeom>
          <a:solidFill>
            <a:srgbClr val="F3F6FA"/>
          </a:solidFill>
          <a:ln w="9525">
            <a:solidFill>
              <a:srgbClr val="DCDFE4"/>
            </a:solidFill>
            <a:prstDash val="solid"/>
          </a:ln>
        </p:spPr>
      </p:sp>
      <p:sp>
        <p:nvSpPr>
          <p:cNvPr id="11" name="Text 8"/>
          <p:cNvSpPr txBox="1"/>
          <p:nvPr/>
        </p:nvSpPr>
        <p:spPr>
          <a:xfrm>
            <a:off x="7973568" y="3182112"/>
            <a:ext cx="3529584"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THE KEY DIFFERENTIATOR</a:t>
            </a:r>
            <a:endParaRPr lang="en-US" sz="1200" dirty="0"/>
          </a:p>
        </p:txBody>
      </p:sp>
      <p:sp>
        <p:nvSpPr>
          <p:cNvPr id="12" name="Text 9"/>
          <p:cNvSpPr txBox="1"/>
          <p:nvPr/>
        </p:nvSpPr>
        <p:spPr>
          <a:xfrm>
            <a:off x="7973568" y="3447288"/>
            <a:ext cx="3529584" cy="82296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The Sentry is not a detector — it is a ROUTER. It answers "would the Inspector want to look at this?", not "is this an attack?". That reframing is what makes a graph neural network affordable on CPU-only OT hardware.</a:t>
            </a:r>
            <a:endParaRPr lang="en-US" sz="1150" dirty="0"/>
          </a:p>
        </p:txBody>
      </p:sp>
      <p:sp>
        <p:nvSpPr>
          <p:cNvPr id="13" name="Shape 10"/>
          <p:cNvSpPr/>
          <p:nvPr/>
        </p:nvSpPr>
        <p:spPr>
          <a:xfrm>
            <a:off x="7772400" y="4480560"/>
            <a:ext cx="3931920" cy="1188720"/>
          </a:xfrm>
          <a:prstGeom prst="roundRect">
            <a:avLst>
              <a:gd name="adj" fmla="val 5385"/>
            </a:avLst>
          </a:prstGeom>
          <a:solidFill>
            <a:srgbClr val="F3F6FA"/>
          </a:solidFill>
          <a:ln w="9525">
            <a:solidFill>
              <a:srgbClr val="DCDFE4"/>
            </a:solidFill>
            <a:prstDash val="solid"/>
          </a:ln>
        </p:spPr>
      </p:sp>
      <p:sp>
        <p:nvSpPr>
          <p:cNvPr id="14" name="Text 11"/>
          <p:cNvSpPr txBox="1"/>
          <p:nvPr/>
        </p:nvSpPr>
        <p:spPr>
          <a:xfrm>
            <a:off x="7973568" y="4599432"/>
            <a:ext cx="3529584" cy="237744"/>
          </a:xfrm>
          <a:prstGeom prst="rect">
            <a:avLst/>
          </a:prstGeom>
          <a:noFill/>
          <a:ln/>
        </p:spPr>
        <p:txBody>
          <a:bodyPr wrap="square" lIns="0" tIns="0" rIns="0" bIns="0" rtlCol="0" anchor="t"/>
          <a:lstStyle/>
          <a:p>
            <a:pPr indent="0" marL="0">
              <a:buNone/>
            </a:pPr>
            <a:r>
              <a:rPr lang="en-US" sz="1200" b="1" dirty="0">
                <a:solidFill>
                  <a:srgbClr val="9A6314"/>
                </a:solidFill>
                <a:latin typeface="Calibri" pitchFamily="34" charset="0"/>
                <a:ea typeface="Calibri" pitchFamily="34" charset="-122"/>
                <a:cs typeface="Calibri" pitchFamily="34" charset="-120"/>
              </a:rPr>
              <a:t>AND IT ESCALATES BACK</a:t>
            </a:r>
            <a:endParaRPr lang="en-US" sz="1200" dirty="0"/>
          </a:p>
        </p:txBody>
      </p:sp>
      <p:sp>
        <p:nvSpPr>
          <p:cNvPr id="15" name="Text 12"/>
          <p:cNvSpPr txBox="1"/>
          <p:nvPr/>
        </p:nvSpPr>
        <p:spPr>
          <a:xfrm>
            <a:off x="7973568" y="4864608"/>
            <a:ext cx="3529584" cy="68580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Flagged host-days return to the Inspector, which re-runs on those only and emits one alert carrying the four timestamped chain steps — not four disconnected alerts.</a:t>
            </a:r>
            <a:endParaRPr lang="en-US" sz="1150" dirty="0"/>
          </a:p>
        </p:txBody>
      </p:sp>
      <p:sp>
        <p:nvSpPr>
          <p:cNvPr id="16" name="Shape 13"/>
          <p:cNvSpPr/>
          <p:nvPr/>
        </p:nvSpPr>
        <p:spPr>
          <a:xfrm>
            <a:off x="502920" y="5870448"/>
            <a:ext cx="11201400" cy="658368"/>
          </a:xfrm>
          <a:prstGeom prst="roundRect">
            <a:avLst>
              <a:gd name="adj" fmla="val 8333"/>
            </a:avLst>
          </a:prstGeom>
          <a:solidFill>
            <a:srgbClr val="F3F6FA"/>
          </a:solidFill>
          <a:ln w="9525">
            <a:solidFill>
              <a:srgbClr val="DCDFE4"/>
            </a:solidFill>
            <a:prstDash val="solid"/>
          </a:ln>
        </p:spPr>
      </p:sp>
      <p:sp>
        <p:nvSpPr>
          <p:cNvPr id="17" name="Text 14"/>
          <p:cNvSpPr txBox="1"/>
          <p:nvPr/>
        </p:nvSpPr>
        <p:spPr>
          <a:xfrm>
            <a:off x="777240" y="6016752"/>
            <a:ext cx="10698480" cy="411480"/>
          </a:xfrm>
          <a:prstGeom prst="rect">
            <a:avLst/>
          </a:prstGeom>
          <a:noFill/>
          <a:ln/>
        </p:spPr>
        <p:txBody>
          <a:bodyPr wrap="square" lIns="0" tIns="0" rIns="0" bIns="0" rtlCol="0" anchor="t"/>
          <a:lstStyle/>
          <a:p>
            <a:pPr indent="0" marL="0">
              <a:buNone/>
            </a:pPr>
            <a:r>
              <a:rPr lang="en-US" sz="1250" dirty="0">
                <a:solidFill>
                  <a:srgbClr val="0F2340"/>
                </a:solidFill>
                <a:latin typeface="Calibri" pitchFamily="34" charset="0"/>
                <a:ea typeface="Calibri" pitchFamily="34" charset="-122"/>
                <a:cs typeface="Calibri" pitchFamily="34" charset="-120"/>
              </a:rPr>
              <a:t>In one line:  we detect the COMBINATION and the SHAPE, not the destination.  Four allow-listed services touched together, with machine timing, is a signal no signature, blocklist, DPI or agent sees.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04  ·  TECHNICAL ARCHITECTURE</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Input → process → output, end to end.</a:t>
            </a:r>
            <a:endParaRPr lang="en-US" sz="3000" dirty="0"/>
          </a:p>
        </p:txBody>
      </p:sp>
      <p:sp>
        <p:nvSpPr>
          <p:cNvPr id="4" name="Shape 2"/>
          <p:cNvSpPr/>
          <p:nvPr/>
        </p:nvSpPr>
        <p:spPr>
          <a:xfrm>
            <a:off x="420624" y="1216152"/>
            <a:ext cx="11320272" cy="2962656"/>
          </a:xfrm>
          <a:prstGeom prst="roundRect">
            <a:avLst>
              <a:gd name="adj" fmla="val 1852"/>
            </a:avLst>
          </a:prstGeom>
          <a:solidFill>
            <a:srgbClr val="232428"/>
          </a:solidFill>
          <a:ln w="9525">
            <a:solidFill>
              <a:srgbClr val="3A3C42"/>
            </a:solidFill>
            <a:prstDash val="solid"/>
          </a:ln>
        </p:spPr>
      </p:sp>
      <p:pic>
        <p:nvPicPr>
          <p:cNvPr id="5" name="Image 0" descr="/home/claude/ppt/assets/pipeline.png">    </p:cNvPr>
          <p:cNvPicPr>
            <a:picLocks noChangeAspect="1"/>
          </p:cNvPicPr>
          <p:nvPr/>
        </p:nvPicPr>
        <p:blipFill>
          <a:blip r:embed="rId1"/>
          <a:stretch>
            <a:fillRect/>
          </a:stretch>
        </p:blipFill>
        <p:spPr>
          <a:xfrm>
            <a:off x="502920" y="1298448"/>
            <a:ext cx="11155680" cy="2798064"/>
          </a:xfrm>
          <a:prstGeom prst="rect">
            <a:avLst/>
          </a:prstGeom>
        </p:spPr>
      </p:pic>
      <p:sp>
        <p:nvSpPr>
          <p:cNvPr id="6" name="Shape 3"/>
          <p:cNvSpPr/>
          <p:nvPr/>
        </p:nvSpPr>
        <p:spPr>
          <a:xfrm>
            <a:off x="502920" y="4498848"/>
            <a:ext cx="2715768" cy="1572768"/>
          </a:xfrm>
          <a:prstGeom prst="roundRect">
            <a:avLst>
              <a:gd name="adj" fmla="val 4070"/>
            </a:avLst>
          </a:prstGeom>
          <a:solidFill>
            <a:srgbClr val="F3F6FA"/>
          </a:solidFill>
          <a:ln w="9525">
            <a:solidFill>
              <a:srgbClr val="DCDFE4"/>
            </a:solidFill>
            <a:prstDash val="solid"/>
          </a:ln>
        </p:spPr>
      </p:sp>
      <p:sp>
        <p:nvSpPr>
          <p:cNvPr id="7" name="Text 4"/>
          <p:cNvSpPr txBox="1"/>
          <p:nvPr/>
        </p:nvSpPr>
        <p:spPr>
          <a:xfrm>
            <a:off x="704088" y="4617720"/>
            <a:ext cx="2313432" cy="237744"/>
          </a:xfrm>
          <a:prstGeom prst="rect">
            <a:avLst/>
          </a:prstGeom>
          <a:noFill/>
          <a:ln/>
        </p:spPr>
        <p:txBody>
          <a:bodyPr wrap="square" lIns="0" tIns="0" rIns="0" bIns="0" rtlCol="0" anchor="t"/>
          <a:lstStyle/>
          <a:p>
            <a:pPr indent="0" marL="0">
              <a:buNone/>
            </a:pPr>
            <a:r>
              <a:rPr lang="en-US" sz="1200" b="1" dirty="0">
                <a:solidFill>
                  <a:srgbClr val="2A78D6"/>
                </a:solidFill>
                <a:latin typeface="Calibri" pitchFamily="34" charset="0"/>
                <a:ea typeface="Calibri" pitchFamily="34" charset="-122"/>
                <a:cs typeface="Calibri" pitchFamily="34" charset="-120"/>
              </a:rPr>
              <a:t>CAPTURE &amp; PARSE</a:t>
            </a:r>
            <a:endParaRPr lang="en-US" sz="1200" dirty="0"/>
          </a:p>
        </p:txBody>
      </p:sp>
      <p:sp>
        <p:nvSpPr>
          <p:cNvPr id="8" name="Text 5"/>
          <p:cNvSpPr txBox="1"/>
          <p:nvPr/>
        </p:nvSpPr>
        <p:spPr>
          <a:xfrm>
            <a:off x="704088" y="4882896"/>
            <a:ext cx="2313432" cy="1069848"/>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dumpcap (whole packets) · Zeek 6 · Npcap · RFC 9001 QUIC Initial parser · scheduled task with ring-buffer pruning</a:t>
            </a:r>
            <a:endParaRPr lang="en-US" sz="1150" dirty="0"/>
          </a:p>
        </p:txBody>
      </p:sp>
      <p:sp>
        <p:nvSpPr>
          <p:cNvPr id="9" name="Shape 6"/>
          <p:cNvSpPr/>
          <p:nvPr/>
        </p:nvSpPr>
        <p:spPr>
          <a:xfrm>
            <a:off x="3346704" y="4498848"/>
            <a:ext cx="2715768" cy="1572768"/>
          </a:xfrm>
          <a:prstGeom prst="roundRect">
            <a:avLst>
              <a:gd name="adj" fmla="val 4070"/>
            </a:avLst>
          </a:prstGeom>
          <a:solidFill>
            <a:srgbClr val="F3F6FA"/>
          </a:solidFill>
          <a:ln w="9525">
            <a:solidFill>
              <a:srgbClr val="DCDFE4"/>
            </a:solidFill>
            <a:prstDash val="solid"/>
          </a:ln>
        </p:spPr>
      </p:sp>
      <p:sp>
        <p:nvSpPr>
          <p:cNvPr id="10" name="Text 7"/>
          <p:cNvSpPr txBox="1"/>
          <p:nvPr/>
        </p:nvSpPr>
        <p:spPr>
          <a:xfrm>
            <a:off x="3547872" y="4617720"/>
            <a:ext cx="2313432"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MODELS</a:t>
            </a:r>
            <a:endParaRPr lang="en-US" sz="1200" dirty="0"/>
          </a:p>
        </p:txBody>
      </p:sp>
      <p:sp>
        <p:nvSpPr>
          <p:cNvPr id="11" name="Text 8"/>
          <p:cNvSpPr txBox="1"/>
          <p:nvPr/>
        </p:nvSpPr>
        <p:spPr>
          <a:xfrm>
            <a:off x="3547872" y="4882896"/>
            <a:ext cx="2313432" cy="1069848"/>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PyTorch · E-GraphSAGE edge aggregator + Transformer (Inspector) · GRU student (Sentry) · ONNX Runtime for the 6 Tier-1 experts</a:t>
            </a:r>
            <a:endParaRPr lang="en-US" sz="1150" dirty="0"/>
          </a:p>
        </p:txBody>
      </p:sp>
      <p:sp>
        <p:nvSpPr>
          <p:cNvPr id="12" name="Shape 9"/>
          <p:cNvSpPr/>
          <p:nvPr/>
        </p:nvSpPr>
        <p:spPr>
          <a:xfrm>
            <a:off x="6190488" y="4498848"/>
            <a:ext cx="2715768" cy="1572768"/>
          </a:xfrm>
          <a:prstGeom prst="roundRect">
            <a:avLst>
              <a:gd name="adj" fmla="val 4070"/>
            </a:avLst>
          </a:prstGeom>
          <a:solidFill>
            <a:srgbClr val="F3F6FA"/>
          </a:solidFill>
          <a:ln w="9525">
            <a:solidFill>
              <a:srgbClr val="DCDFE4"/>
            </a:solidFill>
            <a:prstDash val="solid"/>
          </a:ln>
        </p:spPr>
      </p:sp>
      <p:sp>
        <p:nvSpPr>
          <p:cNvPr id="13" name="Text 10"/>
          <p:cNvSpPr txBox="1"/>
          <p:nvPr/>
        </p:nvSpPr>
        <p:spPr>
          <a:xfrm>
            <a:off x="6391656" y="4617720"/>
            <a:ext cx="2313432" cy="237744"/>
          </a:xfrm>
          <a:prstGeom prst="rect">
            <a:avLst/>
          </a:prstGeom>
          <a:noFill/>
          <a:ln/>
        </p:spPr>
        <p:txBody>
          <a:bodyPr wrap="square" lIns="0" tIns="0" rIns="0" bIns="0" rtlCol="0" anchor="t"/>
          <a:lstStyle/>
          <a:p>
            <a:pPr indent="0" marL="0">
              <a:buNone/>
            </a:pPr>
            <a:r>
              <a:rPr lang="en-US" sz="1200" b="1" dirty="0">
                <a:solidFill>
                  <a:srgbClr val="1B3A63"/>
                </a:solidFill>
                <a:latin typeface="Calibri" pitchFamily="34" charset="0"/>
                <a:ea typeface="Calibri" pitchFamily="34" charset="-122"/>
                <a:cs typeface="Calibri" pitchFamily="34" charset="-120"/>
              </a:rPr>
              <a:t>SERVING &amp; UI</a:t>
            </a:r>
            <a:endParaRPr lang="en-US" sz="1200" dirty="0"/>
          </a:p>
        </p:txBody>
      </p:sp>
      <p:sp>
        <p:nvSpPr>
          <p:cNvPr id="14" name="Text 11"/>
          <p:cNvSpPr txBox="1"/>
          <p:nvPr/>
        </p:nvSpPr>
        <p:spPr>
          <a:xfrm>
            <a:off x="6391656" y="4882896"/>
            <a:ext cx="2313432" cy="1069848"/>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FastAPI · WebSocket alert hub · React + TypeScript dashboard · force-directed threat graph</a:t>
            </a:r>
            <a:endParaRPr lang="en-US" sz="1150" dirty="0"/>
          </a:p>
        </p:txBody>
      </p:sp>
      <p:sp>
        <p:nvSpPr>
          <p:cNvPr id="15" name="Shape 12"/>
          <p:cNvSpPr/>
          <p:nvPr/>
        </p:nvSpPr>
        <p:spPr>
          <a:xfrm>
            <a:off x="9034272" y="4498848"/>
            <a:ext cx="2715768" cy="1572768"/>
          </a:xfrm>
          <a:prstGeom prst="roundRect">
            <a:avLst>
              <a:gd name="adj" fmla="val 4070"/>
            </a:avLst>
          </a:prstGeom>
          <a:solidFill>
            <a:srgbClr val="F3F6FA"/>
          </a:solidFill>
          <a:ln w="9525">
            <a:solidFill>
              <a:srgbClr val="DCDFE4"/>
            </a:solidFill>
            <a:prstDash val="solid"/>
          </a:ln>
        </p:spPr>
      </p:sp>
      <p:sp>
        <p:nvSpPr>
          <p:cNvPr id="16" name="Text 13"/>
          <p:cNvSpPr txBox="1"/>
          <p:nvPr/>
        </p:nvSpPr>
        <p:spPr>
          <a:xfrm>
            <a:off x="9235440" y="4617720"/>
            <a:ext cx="2313432" cy="237744"/>
          </a:xfrm>
          <a:prstGeom prst="rect">
            <a:avLst/>
          </a:prstGeom>
          <a:noFill/>
          <a:ln/>
        </p:spPr>
        <p:txBody>
          <a:bodyPr wrap="square" lIns="0" tIns="0" rIns="0" bIns="0" rtlCol="0" anchor="t"/>
          <a:lstStyle/>
          <a:p>
            <a:pPr indent="0" marL="0">
              <a:buNone/>
            </a:pPr>
            <a:r>
              <a:rPr lang="en-US" sz="1200" b="1" dirty="0">
                <a:solidFill>
                  <a:srgbClr val="9A6314"/>
                </a:solidFill>
                <a:latin typeface="Calibri" pitchFamily="34" charset="0"/>
                <a:ea typeface="Calibri" pitchFamily="34" charset="-122"/>
                <a:cs typeface="Calibri" pitchFamily="34" charset="-120"/>
              </a:rPr>
              <a:t>DATA &amp; EVAL</a:t>
            </a:r>
            <a:endParaRPr lang="en-US" sz="1200" dirty="0"/>
          </a:p>
        </p:txBody>
      </p:sp>
      <p:sp>
        <p:nvSpPr>
          <p:cNvPr id="17" name="Text 14"/>
          <p:cNvSpPr txBox="1"/>
          <p:nvPr/>
        </p:nvSpPr>
        <p:spPr>
          <a:xfrm>
            <a:off x="9235440" y="4882896"/>
            <a:ext cx="2313432" cy="1069848"/>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NumPy / scikit-learn · LANL cyber1 (real red team) · our own running capture · ablation + multi-seed temporal protocol</a:t>
            </a:r>
            <a:endParaRPr lang="en-US" sz="1150" dirty="0"/>
          </a:p>
        </p:txBody>
      </p:sp>
      <p:sp>
        <p:nvSpPr>
          <p:cNvPr id="18" name="Text 15"/>
          <p:cNvSpPr txBox="1"/>
          <p:nvPr/>
        </p:nvSpPr>
        <p:spPr>
          <a:xfrm>
            <a:off x="502920" y="6199632"/>
            <a:ext cx="11155680" cy="274320"/>
          </a:xfrm>
          <a:prstGeom prst="rect">
            <a:avLst/>
          </a:prstGeom>
          <a:noFill/>
          <a:ln/>
        </p:spPr>
        <p:txBody>
          <a:bodyPr wrap="square" lIns="0" tIns="0" rIns="0" bIns="0" rtlCol="0" anchor="ctr"/>
          <a:lstStyle/>
          <a:p>
            <a:pPr indent="0" marL="0">
              <a:buNone/>
            </a:pPr>
            <a:r>
              <a:rPr lang="en-US" sz="1150" i="1" dirty="0">
                <a:solidFill>
                  <a:srgbClr val="7C818A"/>
                </a:solidFill>
                <a:latin typeface="Calibri" pitchFamily="34" charset="0"/>
                <a:ea typeface="Calibri" pitchFamily="34" charset="-122"/>
                <a:cs typeface="Calibri" pitchFamily="34" charset="-120"/>
              </a:rPr>
              <a:t>No inline device, no agent, no decryption, no payload retention — the whole system is a passive consumer of headers.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05  ·  INNOVATION &amp; NOVELTY</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One genuine novelty, stated precisely — and the prior art named.</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We are explicit about what is ours and what is not. Overclaiming is the fastest way to lose a technical panel.</a:t>
            </a:r>
            <a:endParaRPr lang="en-US" sz="1400" dirty="0"/>
          </a:p>
        </p:txBody>
      </p:sp>
      <p:sp>
        <p:nvSpPr>
          <p:cNvPr id="5" name="Shape 3"/>
          <p:cNvSpPr/>
          <p:nvPr/>
        </p:nvSpPr>
        <p:spPr>
          <a:xfrm>
            <a:off x="420624" y="1581912"/>
            <a:ext cx="3822192" cy="3227832"/>
          </a:xfrm>
          <a:prstGeom prst="roundRect">
            <a:avLst>
              <a:gd name="adj" fmla="val 1700"/>
            </a:avLst>
          </a:prstGeom>
          <a:solidFill>
            <a:srgbClr val="232428"/>
          </a:solidFill>
          <a:ln w="9525">
            <a:solidFill>
              <a:srgbClr val="3A3C42"/>
            </a:solidFill>
            <a:prstDash val="solid"/>
          </a:ln>
        </p:spPr>
      </p:sp>
      <p:pic>
        <p:nvPicPr>
          <p:cNvPr id="6" name="Image 0" descr="/home/claude/ppt/assets/inspector.png">    </p:cNvPr>
          <p:cNvPicPr>
            <a:picLocks noChangeAspect="1"/>
          </p:cNvPicPr>
          <p:nvPr/>
        </p:nvPicPr>
        <p:blipFill>
          <a:blip r:embed="rId1"/>
          <a:stretch>
            <a:fillRect/>
          </a:stretch>
        </p:blipFill>
        <p:spPr>
          <a:xfrm>
            <a:off x="502920" y="1664208"/>
            <a:ext cx="3657600" cy="3063240"/>
          </a:xfrm>
          <a:prstGeom prst="rect">
            <a:avLst/>
          </a:prstGeom>
        </p:spPr>
      </p:pic>
      <p:sp>
        <p:nvSpPr>
          <p:cNvPr id="7" name="Shape 4"/>
          <p:cNvSpPr/>
          <p:nvPr/>
        </p:nvSpPr>
        <p:spPr>
          <a:xfrm>
            <a:off x="4352544" y="1581912"/>
            <a:ext cx="2999232" cy="3227832"/>
          </a:xfrm>
          <a:prstGeom prst="roundRect">
            <a:avLst>
              <a:gd name="adj" fmla="val 1829"/>
            </a:avLst>
          </a:prstGeom>
          <a:solidFill>
            <a:srgbClr val="232428"/>
          </a:solidFill>
          <a:ln w="9525">
            <a:solidFill>
              <a:srgbClr val="3A3C42"/>
            </a:solidFill>
            <a:prstDash val="solid"/>
          </a:ln>
        </p:spPr>
      </p:sp>
      <p:pic>
        <p:nvPicPr>
          <p:cNvPr id="8" name="Image 1" descr="/home/claude/ppt/assets/sentry.png">    </p:cNvPr>
          <p:cNvPicPr>
            <a:picLocks noChangeAspect="1"/>
          </p:cNvPicPr>
          <p:nvPr/>
        </p:nvPicPr>
        <p:blipFill>
          <a:blip r:embed="rId2"/>
          <a:stretch>
            <a:fillRect/>
          </a:stretch>
        </p:blipFill>
        <p:spPr>
          <a:xfrm>
            <a:off x="4434840" y="1664208"/>
            <a:ext cx="2834640" cy="3063240"/>
          </a:xfrm>
          <a:prstGeom prst="rect">
            <a:avLst/>
          </a:prstGeom>
        </p:spPr>
      </p:pic>
      <p:sp>
        <p:nvSpPr>
          <p:cNvPr id="9" name="Shape 5"/>
          <p:cNvSpPr/>
          <p:nvPr/>
        </p:nvSpPr>
        <p:spPr>
          <a:xfrm>
            <a:off x="7488936" y="1581912"/>
            <a:ext cx="4279392" cy="2496312"/>
          </a:xfrm>
          <a:prstGeom prst="roundRect">
            <a:avLst>
              <a:gd name="adj" fmla="val 2198"/>
            </a:avLst>
          </a:prstGeom>
          <a:solidFill>
            <a:srgbClr val="232428"/>
          </a:solidFill>
          <a:ln w="9525">
            <a:solidFill>
              <a:srgbClr val="3A3C42"/>
            </a:solidFill>
            <a:prstDash val="solid"/>
          </a:ln>
        </p:spPr>
      </p:sp>
      <p:pic>
        <p:nvPicPr>
          <p:cNvPr id="10" name="Image 2" descr="/home/claude/ppt/assets/chart_compression.png">    </p:cNvPr>
          <p:cNvPicPr>
            <a:picLocks noChangeAspect="1"/>
          </p:cNvPicPr>
          <p:nvPr/>
        </p:nvPicPr>
        <p:blipFill>
          <a:blip r:embed="rId3"/>
          <a:stretch>
            <a:fillRect/>
          </a:stretch>
        </p:blipFill>
        <p:spPr>
          <a:xfrm>
            <a:off x="7571232" y="1664208"/>
            <a:ext cx="4114800" cy="2331720"/>
          </a:xfrm>
          <a:prstGeom prst="rect">
            <a:avLst/>
          </a:prstGeom>
        </p:spPr>
      </p:pic>
      <p:sp>
        <p:nvSpPr>
          <p:cNvPr id="11" name="Shape 6"/>
          <p:cNvSpPr/>
          <p:nvPr/>
        </p:nvSpPr>
        <p:spPr>
          <a:xfrm>
            <a:off x="7571232" y="4224528"/>
            <a:ext cx="4114800" cy="1828800"/>
          </a:xfrm>
          <a:prstGeom prst="roundRect">
            <a:avLst>
              <a:gd name="adj" fmla="val 3500"/>
            </a:avLst>
          </a:prstGeom>
          <a:solidFill>
            <a:srgbClr val="F3F6FA"/>
          </a:solidFill>
          <a:ln w="9525">
            <a:solidFill>
              <a:srgbClr val="DCDFE4"/>
            </a:solidFill>
            <a:prstDash val="solid"/>
          </a:ln>
        </p:spPr>
      </p:sp>
      <p:sp>
        <p:nvSpPr>
          <p:cNvPr id="12" name="Text 7"/>
          <p:cNvSpPr txBox="1"/>
          <p:nvPr/>
        </p:nvSpPr>
        <p:spPr>
          <a:xfrm>
            <a:off x="7772400" y="4343400"/>
            <a:ext cx="3712464"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WHAT IS OURS</a:t>
            </a:r>
            <a:endParaRPr lang="en-US" sz="1200" dirty="0"/>
          </a:p>
        </p:txBody>
      </p:sp>
      <p:sp>
        <p:nvSpPr>
          <p:cNvPr id="13" name="Text 8"/>
          <p:cNvSpPr txBox="1"/>
          <p:nvPr/>
        </p:nvSpPr>
        <p:spPr>
          <a:xfrm>
            <a:off x="7772400" y="4608576"/>
            <a:ext cx="3712464" cy="132588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Cross-service category semantics: scoring WHICH allow-listed service categories a host combines, per host, as the detection signal. A 91-study review of graph-based NIDS found no published system doing this. Plus the chain dataset — and the ablation that tells us which half of the hypothesis is actually carrying it.</a:t>
            </a:r>
            <a:endParaRPr lang="en-US" sz="1150" dirty="0"/>
          </a:p>
        </p:txBody>
      </p:sp>
      <p:sp>
        <p:nvSpPr>
          <p:cNvPr id="14" name="Text 9"/>
          <p:cNvSpPr txBox="1"/>
          <p:nvPr/>
        </p:nvSpPr>
        <p:spPr>
          <a:xfrm>
            <a:off x="502920" y="4956048"/>
            <a:ext cx="6766560" cy="160020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454A53"/>
                </a:solidFill>
                <a:latin typeface="Calibri" pitchFamily="34" charset="0"/>
                <a:ea typeface="Calibri" pitchFamily="34" charset="-122"/>
                <a:cs typeface="Calibri" pitchFamily="34" charset="-120"/>
              </a:rPr>
              <a:t>Inspector architecture — GraphIDS (arXiv:2509.16625). Prior art, not ours.</a:t>
            </a:r>
            <a:endParaRPr lang="en-US" sz="1100" dirty="0"/>
          </a:p>
          <a:p>
            <a:pPr marL="342900" indent="-342900">
              <a:lnSpc>
                <a:spcPct val="100000"/>
              </a:lnSpc>
              <a:spcAft>
                <a:spcPts val="500"/>
              </a:spcAft>
              <a:buSzPct val="100000"/>
              <a:buChar char="•"/>
            </a:pPr>
            <a:r>
              <a:rPr lang="en-US" sz="1100" dirty="0">
                <a:solidFill>
                  <a:srgbClr val="454A53"/>
                </a:solidFill>
                <a:latin typeface="Calibri" pitchFamily="34" charset="0"/>
                <a:ea typeface="Calibri" pitchFamily="34" charset="-122"/>
                <a:cs typeface="Calibri" pitchFamily="34" charset="-120"/>
              </a:rPr>
              <a:t>Anomaly-weighted ENCODER distillation, λ=4 — we distil the teacher's representation, never its verdict. Motivated by MDPI MAKE 8(3):60: local outliers transfer at only 20%.</a:t>
            </a:r>
            <a:endParaRPr lang="en-US" sz="1100" dirty="0"/>
          </a:p>
          <a:p>
            <a:pPr marL="342900" indent="-342900">
              <a:lnSpc>
                <a:spcPct val="100000"/>
              </a:lnSpc>
              <a:spcAft>
                <a:spcPts val="500"/>
              </a:spcAft>
              <a:buSzPct val="100000"/>
              <a:buChar char="•"/>
            </a:pPr>
            <a:r>
              <a:rPr lang="en-US" sz="1100" dirty="0">
                <a:solidFill>
                  <a:srgbClr val="454A53"/>
                </a:solidFill>
                <a:latin typeface="Calibri" pitchFamily="34" charset="0"/>
                <a:ea typeface="Calibri" pitchFamily="34" charset="-122"/>
                <a:cs typeface="Calibri" pitchFamily="34" charset="-120"/>
              </a:rPr>
              <a:t>Router predicts "would the teacher flag this", not "am I uncertain" — confidence-based deferral is provably suboptimal (Jitkrittum et al., NeurIPS 2023, arXiv:2307.02764).</a:t>
            </a:r>
            <a:endParaRPr lang="en-US" sz="1100" dirty="0"/>
          </a:p>
          <a:p>
            <a:pPr marL="342900" indent="-342900">
              <a:lnSpc>
                <a:spcPct val="100000"/>
              </a:lnSpc>
              <a:spcAft>
                <a:spcPts val="500"/>
              </a:spcAft>
              <a:buSzPct val="100000"/>
              <a:buChar char="•"/>
            </a:pPr>
            <a:r>
              <a:rPr lang="en-US" sz="1100" dirty="0">
                <a:solidFill>
                  <a:srgbClr val="454A53"/>
                </a:solidFill>
                <a:latin typeface="Calibri" pitchFamily="34" charset="0"/>
                <a:ea typeface="Calibri" pitchFamily="34" charset="-122"/>
                <a:cs typeface="Calibri" pitchFamily="34" charset="-120"/>
              </a:rPr>
              <a:t>Jitter-Trap inversion: a jittered beacon yields UNIFORM inter-arrival times; humans are log-normal. The evasion is the signature.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06  ·  FEASIBILITY &amp; VIABILITY</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Built and measured — plus the risk that argues against us.</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Can it be built in 36 hours? The cascade is already built and measured on real traffic. The 36 hours are for the escalation loop, re-calibration and the evidence UI.</a:t>
            </a:r>
            <a:endParaRPr lang="en-US" sz="1400" dirty="0"/>
          </a:p>
        </p:txBody>
      </p:sp>
      <p:sp>
        <p:nvSpPr>
          <p:cNvPr id="5" name="Shape 3"/>
          <p:cNvSpPr/>
          <p:nvPr/>
        </p:nvSpPr>
        <p:spPr>
          <a:xfrm>
            <a:off x="420624" y="1609344"/>
            <a:ext cx="5650992" cy="2496312"/>
          </a:xfrm>
          <a:prstGeom prst="roundRect">
            <a:avLst>
              <a:gd name="adj" fmla="val 2198"/>
            </a:avLst>
          </a:prstGeom>
          <a:solidFill>
            <a:srgbClr val="232428"/>
          </a:solidFill>
          <a:ln w="9525">
            <a:solidFill>
              <a:srgbClr val="3A3C42"/>
            </a:solidFill>
            <a:prstDash val="solid"/>
          </a:ln>
        </p:spPr>
      </p:sp>
      <p:pic>
        <p:nvPicPr>
          <p:cNvPr id="6" name="Image 0" descr="/home/claude/ppt/assets/chart_cost.png">    </p:cNvPr>
          <p:cNvPicPr>
            <a:picLocks noChangeAspect="1"/>
          </p:cNvPicPr>
          <p:nvPr/>
        </p:nvPicPr>
        <p:blipFill>
          <a:blip r:embed="rId1"/>
          <a:stretch>
            <a:fillRect/>
          </a:stretch>
        </p:blipFill>
        <p:spPr>
          <a:xfrm>
            <a:off x="502920" y="1691640"/>
            <a:ext cx="5486400" cy="2331720"/>
          </a:xfrm>
          <a:prstGeom prst="rect">
            <a:avLst/>
          </a:prstGeom>
        </p:spPr>
      </p:pic>
      <p:sp>
        <p:nvSpPr>
          <p:cNvPr id="7" name="Shape 4"/>
          <p:cNvSpPr/>
          <p:nvPr/>
        </p:nvSpPr>
        <p:spPr>
          <a:xfrm>
            <a:off x="6318504" y="1609344"/>
            <a:ext cx="5468112" cy="3593592"/>
          </a:xfrm>
          <a:prstGeom prst="roundRect">
            <a:avLst>
              <a:gd name="adj" fmla="val 1527"/>
            </a:avLst>
          </a:prstGeom>
          <a:solidFill>
            <a:srgbClr val="232428"/>
          </a:solidFill>
          <a:ln w="9525">
            <a:solidFill>
              <a:srgbClr val="3A3C42"/>
            </a:solidFill>
            <a:prstDash val="solid"/>
          </a:ln>
        </p:spPr>
      </p:sp>
      <p:pic>
        <p:nvPicPr>
          <p:cNvPr id="8" name="Image 1" descr="/home/claude/ppt/assets/chart_confound.png">    </p:cNvPr>
          <p:cNvPicPr>
            <a:picLocks noChangeAspect="1"/>
          </p:cNvPicPr>
          <p:nvPr/>
        </p:nvPicPr>
        <p:blipFill>
          <a:blip r:embed="rId2"/>
          <a:stretch>
            <a:fillRect/>
          </a:stretch>
        </p:blipFill>
        <p:spPr>
          <a:xfrm>
            <a:off x="6400800" y="1691640"/>
            <a:ext cx="5303520" cy="3429000"/>
          </a:xfrm>
          <a:prstGeom prst="rect">
            <a:avLst/>
          </a:prstGeom>
        </p:spPr>
      </p:pic>
      <p:sp>
        <p:nvSpPr>
          <p:cNvPr id="9" name="Shape 5"/>
          <p:cNvSpPr/>
          <p:nvPr/>
        </p:nvSpPr>
        <p:spPr>
          <a:xfrm>
            <a:off x="502920" y="4315968"/>
            <a:ext cx="2651760" cy="1874520"/>
          </a:xfrm>
          <a:prstGeom prst="roundRect">
            <a:avLst>
              <a:gd name="adj" fmla="val 3415"/>
            </a:avLst>
          </a:prstGeom>
          <a:solidFill>
            <a:srgbClr val="F3F6FA"/>
          </a:solidFill>
          <a:ln w="9525">
            <a:solidFill>
              <a:srgbClr val="DCDFE4"/>
            </a:solidFill>
            <a:prstDash val="solid"/>
          </a:ln>
        </p:spPr>
      </p:sp>
      <p:sp>
        <p:nvSpPr>
          <p:cNvPr id="10" name="Text 6"/>
          <p:cNvSpPr txBox="1"/>
          <p:nvPr/>
        </p:nvSpPr>
        <p:spPr>
          <a:xfrm>
            <a:off x="704088" y="4434840"/>
            <a:ext cx="2249424" cy="237744"/>
          </a:xfrm>
          <a:prstGeom prst="rect">
            <a:avLst/>
          </a:prstGeom>
          <a:noFill/>
          <a:ln/>
        </p:spPr>
        <p:txBody>
          <a:bodyPr wrap="square" lIns="0" tIns="0" rIns="0" bIns="0" rtlCol="0" anchor="t"/>
          <a:lstStyle/>
          <a:p>
            <a:pPr indent="0" marL="0">
              <a:buNone/>
            </a:pPr>
            <a:r>
              <a:rPr lang="en-US" sz="1200" b="1" dirty="0">
                <a:solidFill>
                  <a:srgbClr val="0F2340"/>
                </a:solidFill>
                <a:latin typeface="Calibri" pitchFamily="34" charset="0"/>
                <a:ea typeface="Calibri" pitchFamily="34" charset="-122"/>
                <a:cs typeface="Calibri" pitchFamily="34" charset="-120"/>
              </a:rPr>
              <a:t>RESOURCES — ALL FREE / OPEN</a:t>
            </a:r>
            <a:endParaRPr lang="en-US" sz="1200" dirty="0"/>
          </a:p>
        </p:txBody>
      </p:sp>
      <p:sp>
        <p:nvSpPr>
          <p:cNvPr id="11" name="Text 7"/>
          <p:cNvSpPr txBox="1"/>
          <p:nvPr/>
        </p:nvSpPr>
        <p:spPr>
          <a:xfrm>
            <a:off x="704088" y="4700016"/>
            <a:ext cx="2249424" cy="137160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Zeek, Wireshark/Npcap, PyTorch, ONNX Runtime, FastAPI, React — all open source. No paid API. Commissioning ran on CPU; a single consumer GPU is optional, not required.</a:t>
            </a:r>
            <a:endParaRPr lang="en-US" sz="1150" dirty="0"/>
          </a:p>
        </p:txBody>
      </p:sp>
      <p:sp>
        <p:nvSpPr>
          <p:cNvPr id="12" name="Shape 8"/>
          <p:cNvSpPr/>
          <p:nvPr/>
        </p:nvSpPr>
        <p:spPr>
          <a:xfrm>
            <a:off x="3337560" y="4315968"/>
            <a:ext cx="2651760" cy="1874520"/>
          </a:xfrm>
          <a:prstGeom prst="roundRect">
            <a:avLst>
              <a:gd name="adj" fmla="val 3415"/>
            </a:avLst>
          </a:prstGeom>
          <a:solidFill>
            <a:srgbClr val="F3F6FA"/>
          </a:solidFill>
          <a:ln w="9525">
            <a:solidFill>
              <a:srgbClr val="DCDFE4"/>
            </a:solidFill>
            <a:prstDash val="solid"/>
          </a:ln>
        </p:spPr>
      </p:sp>
      <p:sp>
        <p:nvSpPr>
          <p:cNvPr id="13" name="Text 9"/>
          <p:cNvSpPr txBox="1"/>
          <p:nvPr/>
        </p:nvSpPr>
        <p:spPr>
          <a:xfrm>
            <a:off x="3538728" y="4434840"/>
            <a:ext cx="2249424"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SCALES TO 1000× ?</a:t>
            </a:r>
            <a:endParaRPr lang="en-US" sz="1200" dirty="0"/>
          </a:p>
        </p:txBody>
      </p:sp>
      <p:sp>
        <p:nvSpPr>
          <p:cNvPr id="14" name="Text 10"/>
          <p:cNvSpPr txBox="1"/>
          <p:nvPr/>
        </p:nvSpPr>
        <p:spPr>
          <a:xfrm>
            <a:off x="3538728" y="4700016"/>
            <a:ext cx="2249424" cy="137160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Cost is linear in host-days and the Sentry is the only always-on component: 14,992 parameters, ~250,000 windows/second on one CPU core. At 1,000 hosts that is 94.7% less GPU work than inspecting everything.</a:t>
            </a:r>
            <a:endParaRPr lang="en-US" sz="1150" dirty="0"/>
          </a:p>
        </p:txBody>
      </p:sp>
      <p:sp>
        <p:nvSpPr>
          <p:cNvPr id="15" name="Shape 11"/>
          <p:cNvSpPr/>
          <p:nvPr/>
        </p:nvSpPr>
        <p:spPr>
          <a:xfrm>
            <a:off x="6400800" y="5230368"/>
            <a:ext cx="5303520" cy="1325880"/>
          </a:xfrm>
          <a:prstGeom prst="roundRect">
            <a:avLst>
              <a:gd name="adj" fmla="val 4138"/>
            </a:avLst>
          </a:prstGeom>
          <a:solidFill>
            <a:srgbClr val="FDF3F2"/>
          </a:solidFill>
          <a:ln w="9525">
            <a:solidFill>
              <a:srgbClr val="E8B6B3"/>
            </a:solidFill>
            <a:prstDash val="solid"/>
          </a:ln>
        </p:spPr>
      </p:sp>
      <p:sp>
        <p:nvSpPr>
          <p:cNvPr id="16" name="Text 12"/>
          <p:cNvSpPr txBox="1"/>
          <p:nvPr/>
        </p:nvSpPr>
        <p:spPr>
          <a:xfrm>
            <a:off x="6583680" y="5321808"/>
            <a:ext cx="4937760" cy="1143000"/>
          </a:xfrm>
          <a:prstGeom prst="rect">
            <a:avLst/>
          </a:prstGeom>
          <a:noFill/>
          <a:ln/>
        </p:spPr>
        <p:txBody>
          <a:bodyPr wrap="square" lIns="0" tIns="0" rIns="0" bIns="0" rtlCol="0" anchor="t"/>
          <a:lstStyle/>
          <a:p>
            <a:pPr indent="0" marL="0">
              <a:lnSpc>
                <a:spcPct val="98000"/>
              </a:lnSpc>
              <a:buNone/>
            </a:pPr>
            <a:r>
              <a:rPr lang="en-US" sz="950" b="1" dirty="0">
                <a:solidFill>
                  <a:srgbClr val="454A53"/>
                </a:solidFill>
                <a:latin typeface="Calibri" pitchFamily="34" charset="0"/>
                <a:ea typeface="Calibri" pitchFamily="34" charset="-122"/>
                <a:cs typeface="Calibri" pitchFamily="34" charset="-120"/>
              </a:rPr>
              <a:t>Two risks we found ourselves, stated first. </a:t>
            </a:r>
            <a:pPr indent="0" marL="0">
              <a:lnSpc>
                <a:spcPct val="98000"/>
              </a:lnSpc>
              <a:buNone/>
            </a:pPr>
            <a:r>
              <a:rPr lang="en-US" sz="950" dirty="0">
                <a:solidFill>
                  <a:srgbClr val="454A53"/>
                </a:solidFill>
                <a:latin typeface="Calibri" pitchFamily="34" charset="0"/>
                <a:ea typeface="Calibri" pitchFamily="34" charset="-122"/>
                <a:cs typeface="Calibri" pitchFamily="34" charset="-120"/>
              </a:rPr>
              <a:t>Against the LANL red team our within-host AUC is 0.557 ± 0.013 — chance; attacked hosts were simply busier (0.811 vs 0.530 density). </a:t>
            </a:r>
            <a:endParaRPr lang="en-US" sz="950" dirty="0"/>
          </a:p>
          <a:p>
            <a:pPr indent="0" marL="0">
              <a:lnSpc>
                <a:spcPct val="98000"/>
              </a:lnSpc>
              <a:buNone/>
            </a:pPr>
            <a:r>
              <a:rPr lang="en-US" sz="950" dirty="0">
                <a:solidFill>
                  <a:srgbClr val="454A53"/>
                </a:solidFill>
                <a:latin typeface="Calibri" pitchFamily="34" charset="0"/>
                <a:ea typeface="Calibri" pitchFamily="34" charset="-122"/>
                <a:cs typeface="Calibri" pitchFamily="34" charset="-120"/>
              </a:rPr>
              <a:t>And we ran an order-shuffle ablation against our own headline claim: permuting the hours of a day changes our AUC by 0.000, so the signal is cross-service combination and traffic shape, not sequence. We changed the claim rather than the experiment.</a:t>
            </a:r>
            <a:endParaRPr lang="en-US" sz="950" dirty="0"/>
          </a:p>
        </p:txBody>
      </p:sp>
      <p:sp>
        <p:nvSpPr>
          <p:cNvPr id="17" name="Text 13"/>
          <p:cNvSpPr txBox="1"/>
          <p:nvPr/>
        </p:nvSpPr>
        <p:spPr>
          <a:xfrm>
            <a:off x="502920" y="6263640"/>
            <a:ext cx="5486400" cy="320040"/>
          </a:xfrm>
          <a:prstGeom prst="rect">
            <a:avLst/>
          </a:prstGeom>
          <a:noFill/>
          <a:ln/>
        </p:spPr>
        <p:txBody>
          <a:bodyPr wrap="square" lIns="0" tIns="0" rIns="0" bIns="0" rtlCol="0" anchor="t"/>
          <a:lstStyle/>
          <a:p>
            <a:pPr indent="0" marL="0">
              <a:buNone/>
            </a:pPr>
            <a:r>
              <a:rPr lang="en-US" sz="950" i="1" dirty="0">
                <a:solidFill>
                  <a:srgbClr val="108A5F"/>
                </a:solidFill>
                <a:latin typeface="Calibri" pitchFamily="34" charset="0"/>
                <a:ea typeface="Calibri" pitchFamily="34" charset="-122"/>
                <a:cs typeface="Calibri" pitchFamily="34" charset="-120"/>
              </a:rPr>
              <a:t>Checked and clear: a sensor behind a true one-way tap cannot compute log_bytes_down or egress_asymmetry. Dropping both costs 0.002 AUC — the diode deployment story and the feature list agree.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07  ·  IMPACT &amp; BENEFITS</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Measured efficiency today; detection claimed only when earned.</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Every number on this slide is regenerated from a result file by script. None is typed by hand.</a:t>
            </a:r>
            <a:endParaRPr lang="en-US" sz="1400" dirty="0"/>
          </a:p>
        </p:txBody>
      </p:sp>
      <p:sp>
        <p:nvSpPr>
          <p:cNvPr id="5" name="Shape 3"/>
          <p:cNvSpPr/>
          <p:nvPr/>
        </p:nvSpPr>
        <p:spPr>
          <a:xfrm>
            <a:off x="5952744" y="1490472"/>
            <a:ext cx="5833872" cy="3364992"/>
          </a:xfrm>
          <a:prstGeom prst="roundRect">
            <a:avLst>
              <a:gd name="adj" fmla="val 1630"/>
            </a:avLst>
          </a:prstGeom>
          <a:solidFill>
            <a:srgbClr val="232428"/>
          </a:solidFill>
          <a:ln w="9525">
            <a:solidFill>
              <a:srgbClr val="3A3C42"/>
            </a:solidFill>
            <a:prstDash val="solid"/>
          </a:ln>
        </p:spPr>
      </p:sp>
      <p:pic>
        <p:nvPicPr>
          <p:cNvPr id="6" name="Image 0" descr="/home/claude/ppt/assets/chart_budget.png">    </p:cNvPr>
          <p:cNvPicPr>
            <a:picLocks noChangeAspect="1"/>
          </p:cNvPicPr>
          <p:nvPr/>
        </p:nvPicPr>
        <p:blipFill>
          <a:blip r:embed="rId1"/>
          <a:stretch>
            <a:fillRect/>
          </a:stretch>
        </p:blipFill>
        <p:spPr>
          <a:xfrm>
            <a:off x="6035040" y="1572768"/>
            <a:ext cx="5669280" cy="3200400"/>
          </a:xfrm>
          <a:prstGeom prst="rect">
            <a:avLst/>
          </a:prstGeom>
        </p:spPr>
      </p:pic>
      <p:sp>
        <p:nvSpPr>
          <p:cNvPr id="7" name="Text 4"/>
          <p:cNvSpPr txBox="1"/>
          <p:nvPr/>
        </p:nvSpPr>
        <p:spPr>
          <a:xfrm>
            <a:off x="502920" y="1645920"/>
            <a:ext cx="2651760" cy="658368"/>
          </a:xfrm>
          <a:prstGeom prst="rect">
            <a:avLst/>
          </a:prstGeom>
          <a:noFill/>
          <a:ln/>
        </p:spPr>
        <p:txBody>
          <a:bodyPr wrap="square" lIns="0" tIns="0" rIns="0" bIns="0" rtlCol="0" anchor="t"/>
          <a:lstStyle/>
          <a:p>
            <a:pPr algn="l" indent="0" marL="0">
              <a:buNone/>
            </a:pPr>
            <a:r>
              <a:rPr lang="en-US" sz="4000" b="1" dirty="0">
                <a:solidFill>
                  <a:srgbClr val="108A5F"/>
                </a:solidFill>
                <a:latin typeface="Cambria" pitchFamily="34" charset="0"/>
                <a:ea typeface="Cambria" pitchFamily="34" charset="-122"/>
                <a:cs typeface="Cambria" pitchFamily="34" charset="-120"/>
              </a:rPr>
              <a:t>96.9%</a:t>
            </a:r>
            <a:endParaRPr lang="en-US" sz="4000" dirty="0"/>
          </a:p>
        </p:txBody>
      </p:sp>
      <p:sp>
        <p:nvSpPr>
          <p:cNvPr id="8" name="Text 5"/>
          <p:cNvSpPr txBox="1"/>
          <p:nvPr/>
        </p:nvSpPr>
        <p:spPr>
          <a:xfrm>
            <a:off x="502920" y="2286000"/>
            <a:ext cx="2651760" cy="603504"/>
          </a:xfrm>
          <a:prstGeom prst="rect">
            <a:avLst/>
          </a:prstGeom>
          <a:noFill/>
          <a:ln/>
        </p:spPr>
        <p:txBody>
          <a:bodyPr wrap="square" lIns="0" tIns="0" rIns="0" bIns="0" rtlCol="0" anchor="t"/>
          <a:lstStyle/>
          <a:p>
            <a:pPr indent="0" marL="0">
              <a:lnSpc>
                <a:spcPct val="102000"/>
              </a:lnSpc>
              <a:buNone/>
            </a:pPr>
            <a:r>
              <a:rPr lang="en-US" sz="1100" dirty="0">
                <a:solidFill>
                  <a:srgbClr val="454A53"/>
                </a:solidFill>
                <a:latin typeface="Calibri" pitchFamily="34" charset="0"/>
                <a:ea typeface="Calibri" pitchFamily="34" charset="-122"/>
                <a:cs typeface="Calibri" pitchFamily="34" charset="-120"/>
              </a:rPr>
              <a:t>of the expensive model's flags recovered at a 5% escalation budget  (±1.1, 3 seeds)</a:t>
            </a:r>
            <a:endParaRPr lang="en-US" sz="1100" dirty="0"/>
          </a:p>
        </p:txBody>
      </p:sp>
      <p:sp>
        <p:nvSpPr>
          <p:cNvPr id="9" name="Text 6"/>
          <p:cNvSpPr txBox="1"/>
          <p:nvPr/>
        </p:nvSpPr>
        <p:spPr>
          <a:xfrm>
            <a:off x="3200400" y="1645920"/>
            <a:ext cx="2377440" cy="658368"/>
          </a:xfrm>
          <a:prstGeom prst="rect">
            <a:avLst/>
          </a:prstGeom>
          <a:noFill/>
          <a:ln/>
        </p:spPr>
        <p:txBody>
          <a:bodyPr wrap="square" lIns="0" tIns="0" rIns="0" bIns="0" rtlCol="0" anchor="t"/>
          <a:lstStyle/>
          <a:p>
            <a:pPr algn="l" indent="0" marL="0">
              <a:buNone/>
            </a:pPr>
            <a:r>
              <a:rPr lang="en-US" sz="4000" b="1" dirty="0">
                <a:solidFill>
                  <a:srgbClr val="0F2340"/>
                </a:solidFill>
                <a:latin typeface="Cambria" pitchFamily="34" charset="0"/>
                <a:ea typeface="Cambria" pitchFamily="34" charset="-122"/>
                <a:cs typeface="Cambria" pitchFamily="34" charset="-120"/>
              </a:rPr>
              <a:t>13.7×</a:t>
            </a:r>
            <a:endParaRPr lang="en-US" sz="4000" dirty="0"/>
          </a:p>
        </p:txBody>
      </p:sp>
      <p:sp>
        <p:nvSpPr>
          <p:cNvPr id="10" name="Text 7"/>
          <p:cNvSpPr txBox="1"/>
          <p:nvPr/>
        </p:nvSpPr>
        <p:spPr>
          <a:xfrm>
            <a:off x="3200400" y="2286000"/>
            <a:ext cx="2377440" cy="603504"/>
          </a:xfrm>
          <a:prstGeom prst="rect">
            <a:avLst/>
          </a:prstGeom>
          <a:noFill/>
          <a:ln/>
        </p:spPr>
        <p:txBody>
          <a:bodyPr wrap="square" lIns="0" tIns="0" rIns="0" bIns="0" rtlCol="0" anchor="t"/>
          <a:lstStyle/>
          <a:p>
            <a:pPr indent="0" marL="0">
              <a:lnSpc>
                <a:spcPct val="102000"/>
              </a:lnSpc>
              <a:buNone/>
            </a:pPr>
            <a:r>
              <a:rPr lang="en-US" sz="1100" dirty="0">
                <a:solidFill>
                  <a:srgbClr val="454A53"/>
                </a:solidFill>
                <a:latin typeface="Calibri" pitchFamily="34" charset="0"/>
                <a:ea typeface="Calibri" pitchFamily="34" charset="-122"/>
                <a:cs typeface="Calibri" pitchFamily="34" charset="-120"/>
              </a:rPr>
              <a:t>smaller student model — 205,546 → 14,992 parameters, CPU-only</a:t>
            </a:r>
            <a:endParaRPr lang="en-US" sz="1100" dirty="0"/>
          </a:p>
        </p:txBody>
      </p:sp>
      <p:sp>
        <p:nvSpPr>
          <p:cNvPr id="11" name="Text 8"/>
          <p:cNvSpPr txBox="1"/>
          <p:nvPr/>
        </p:nvSpPr>
        <p:spPr>
          <a:xfrm>
            <a:off x="502920" y="3063240"/>
            <a:ext cx="2651760" cy="658368"/>
          </a:xfrm>
          <a:prstGeom prst="rect">
            <a:avLst/>
          </a:prstGeom>
          <a:noFill/>
          <a:ln/>
        </p:spPr>
        <p:txBody>
          <a:bodyPr wrap="square" lIns="0" tIns="0" rIns="0" bIns="0" rtlCol="0" anchor="t"/>
          <a:lstStyle/>
          <a:p>
            <a:pPr algn="l" indent="0" marL="0">
              <a:buNone/>
            </a:pPr>
            <a:r>
              <a:rPr lang="en-US" sz="4000" b="1" dirty="0">
                <a:solidFill>
                  <a:srgbClr val="108A5F"/>
                </a:solidFill>
                <a:latin typeface="Cambria" pitchFamily="34" charset="0"/>
                <a:ea typeface="Cambria" pitchFamily="34" charset="-122"/>
                <a:cs typeface="Cambria" pitchFamily="34" charset="-120"/>
              </a:rPr>
              <a:t>94.7%</a:t>
            </a:r>
            <a:endParaRPr lang="en-US" sz="4000" dirty="0"/>
          </a:p>
        </p:txBody>
      </p:sp>
      <p:sp>
        <p:nvSpPr>
          <p:cNvPr id="12" name="Text 9"/>
          <p:cNvSpPr txBox="1"/>
          <p:nvPr/>
        </p:nvSpPr>
        <p:spPr>
          <a:xfrm>
            <a:off x="502920" y="3703320"/>
            <a:ext cx="2651760" cy="603504"/>
          </a:xfrm>
          <a:prstGeom prst="rect">
            <a:avLst/>
          </a:prstGeom>
          <a:noFill/>
          <a:ln/>
        </p:spPr>
        <p:txBody>
          <a:bodyPr wrap="square" lIns="0" tIns="0" rIns="0" bIns="0" rtlCol="0" anchor="t"/>
          <a:lstStyle/>
          <a:p>
            <a:pPr indent="0" marL="0">
              <a:lnSpc>
                <a:spcPct val="102000"/>
              </a:lnSpc>
              <a:buNone/>
            </a:pPr>
            <a:r>
              <a:rPr lang="en-US" sz="1100" dirty="0">
                <a:solidFill>
                  <a:srgbClr val="454A53"/>
                </a:solidFill>
                <a:latin typeface="Calibri" pitchFamily="34" charset="0"/>
                <a:ea typeface="Calibri" pitchFamily="34" charset="-122"/>
                <a:cs typeface="Calibri" pitchFamily="34" charset="-120"/>
              </a:rPr>
              <a:t>less GPU work in steady state at a 1,000-host deployment</a:t>
            </a:r>
            <a:endParaRPr lang="en-US" sz="1100" dirty="0"/>
          </a:p>
        </p:txBody>
      </p:sp>
      <p:sp>
        <p:nvSpPr>
          <p:cNvPr id="13" name="Text 10"/>
          <p:cNvSpPr txBox="1"/>
          <p:nvPr/>
        </p:nvSpPr>
        <p:spPr>
          <a:xfrm>
            <a:off x="3200400" y="3063240"/>
            <a:ext cx="2377440" cy="658368"/>
          </a:xfrm>
          <a:prstGeom prst="rect">
            <a:avLst/>
          </a:prstGeom>
          <a:noFill/>
          <a:ln/>
        </p:spPr>
        <p:txBody>
          <a:bodyPr wrap="square" lIns="0" tIns="0" rIns="0" bIns="0" rtlCol="0" anchor="t"/>
          <a:lstStyle/>
          <a:p>
            <a:pPr algn="l" indent="0" marL="0">
              <a:buNone/>
            </a:pPr>
            <a:r>
              <a:rPr lang="en-US" sz="4000" b="1" dirty="0">
                <a:solidFill>
                  <a:srgbClr val="0F2340"/>
                </a:solidFill>
                <a:latin typeface="Cambria" pitchFamily="34" charset="0"/>
                <a:ea typeface="Cambria" pitchFamily="34" charset="-122"/>
                <a:cs typeface="Cambria" pitchFamily="34" charset="-120"/>
              </a:rPr>
              <a:t>0.992</a:t>
            </a:r>
            <a:endParaRPr lang="en-US" sz="4000" dirty="0"/>
          </a:p>
        </p:txBody>
      </p:sp>
      <p:sp>
        <p:nvSpPr>
          <p:cNvPr id="14" name="Text 11"/>
          <p:cNvSpPr txBox="1"/>
          <p:nvPr/>
        </p:nvSpPr>
        <p:spPr>
          <a:xfrm>
            <a:off x="3200400" y="3703320"/>
            <a:ext cx="2377440" cy="603504"/>
          </a:xfrm>
          <a:prstGeom prst="rect">
            <a:avLst/>
          </a:prstGeom>
          <a:noFill/>
          <a:ln/>
        </p:spPr>
        <p:txBody>
          <a:bodyPr wrap="square" lIns="0" tIns="0" rIns="0" bIns="0" rtlCol="0" anchor="t"/>
          <a:lstStyle/>
          <a:p>
            <a:pPr indent="0" marL="0">
              <a:lnSpc>
                <a:spcPct val="102000"/>
              </a:lnSpc>
              <a:buNone/>
            </a:pPr>
            <a:r>
              <a:rPr lang="en-US" sz="1100" dirty="0">
                <a:solidFill>
                  <a:srgbClr val="454A53"/>
                </a:solidFill>
                <a:latin typeface="Calibri" pitchFamily="34" charset="0"/>
                <a:ea typeface="Calibri" pitchFamily="34" charset="-122"/>
                <a:cs typeface="Calibri" pitchFamily="34" charset="-120"/>
              </a:rPr>
              <a:t>Sentry–Inspector agreement, AUC, on real enterprise traffic (±0.003)</a:t>
            </a:r>
            <a:endParaRPr lang="en-US" sz="1100" dirty="0"/>
          </a:p>
        </p:txBody>
      </p:sp>
      <p:sp>
        <p:nvSpPr>
          <p:cNvPr id="15" name="Shape 12"/>
          <p:cNvSpPr/>
          <p:nvPr/>
        </p:nvSpPr>
        <p:spPr>
          <a:xfrm>
            <a:off x="502920" y="4462272"/>
            <a:ext cx="2743200" cy="1737360"/>
          </a:xfrm>
          <a:prstGeom prst="roundRect">
            <a:avLst>
              <a:gd name="adj" fmla="val 3684"/>
            </a:avLst>
          </a:prstGeom>
          <a:solidFill>
            <a:srgbClr val="F3F6FA"/>
          </a:solidFill>
          <a:ln w="9525">
            <a:solidFill>
              <a:srgbClr val="DCDFE4"/>
            </a:solidFill>
            <a:prstDash val="solid"/>
          </a:ln>
        </p:spPr>
      </p:sp>
      <p:sp>
        <p:nvSpPr>
          <p:cNvPr id="16" name="Text 13"/>
          <p:cNvSpPr txBox="1"/>
          <p:nvPr/>
        </p:nvSpPr>
        <p:spPr>
          <a:xfrm>
            <a:off x="704088" y="4581144"/>
            <a:ext cx="2340864" cy="237744"/>
          </a:xfrm>
          <a:prstGeom prst="rect">
            <a:avLst/>
          </a:prstGeom>
          <a:noFill/>
          <a:ln/>
        </p:spPr>
        <p:txBody>
          <a:bodyPr wrap="square" lIns="0" tIns="0" rIns="0" bIns="0" rtlCol="0" anchor="t"/>
          <a:lstStyle/>
          <a:p>
            <a:pPr indent="0" marL="0">
              <a:buNone/>
            </a:pPr>
            <a:r>
              <a:rPr lang="en-US" sz="1200" b="1" dirty="0">
                <a:solidFill>
                  <a:srgbClr val="0F2340"/>
                </a:solidFill>
                <a:latin typeface="Calibri" pitchFamily="34" charset="0"/>
                <a:ea typeface="Calibri" pitchFamily="34" charset="-122"/>
                <a:cs typeface="Calibri" pitchFamily="34" charset="-120"/>
              </a:rPr>
              <a:t>WHO BENEFITS</a:t>
            </a:r>
            <a:endParaRPr lang="en-US" sz="1200" dirty="0"/>
          </a:p>
        </p:txBody>
      </p:sp>
      <p:sp>
        <p:nvSpPr>
          <p:cNvPr id="17" name="Text 14"/>
          <p:cNvSpPr txBox="1"/>
          <p:nvPr/>
        </p:nvSpPr>
        <p:spPr>
          <a:xfrm>
            <a:off x="704088" y="4846320"/>
            <a:ext cx="2340864" cy="123444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Operators of diode-protected networks (nuclear, defence, grid, water) who today have no behavioural egress detection at all — and any estate with IoT/OT/BYOD endpoints that cannot take an agent.</a:t>
            </a:r>
            <a:endParaRPr lang="en-US" sz="1150" dirty="0"/>
          </a:p>
        </p:txBody>
      </p:sp>
      <p:sp>
        <p:nvSpPr>
          <p:cNvPr id="18" name="Shape 15"/>
          <p:cNvSpPr/>
          <p:nvPr/>
        </p:nvSpPr>
        <p:spPr>
          <a:xfrm>
            <a:off x="3429000" y="4462272"/>
            <a:ext cx="2606040" cy="1737360"/>
          </a:xfrm>
          <a:prstGeom prst="roundRect">
            <a:avLst>
              <a:gd name="adj" fmla="val 3684"/>
            </a:avLst>
          </a:prstGeom>
          <a:solidFill>
            <a:srgbClr val="F3F6FA"/>
          </a:solidFill>
          <a:ln w="9525">
            <a:solidFill>
              <a:srgbClr val="DCDFE4"/>
            </a:solidFill>
            <a:prstDash val="solid"/>
          </a:ln>
        </p:spPr>
      </p:sp>
      <p:sp>
        <p:nvSpPr>
          <p:cNvPr id="19" name="Text 16"/>
          <p:cNvSpPr txBox="1"/>
          <p:nvPr/>
        </p:nvSpPr>
        <p:spPr>
          <a:xfrm>
            <a:off x="3630168" y="4581144"/>
            <a:ext cx="2203704"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SDG ALIGNMENT</a:t>
            </a:r>
            <a:endParaRPr lang="en-US" sz="1200" dirty="0"/>
          </a:p>
        </p:txBody>
      </p:sp>
      <p:sp>
        <p:nvSpPr>
          <p:cNvPr id="20" name="Text 17"/>
          <p:cNvSpPr txBox="1"/>
          <p:nvPr/>
        </p:nvSpPr>
        <p:spPr>
          <a:xfrm>
            <a:off x="3630168" y="4846320"/>
            <a:ext cx="2203704" cy="123444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SDG 9 — resilient infrastructure and industrial innovation.</a:t>
            </a:r>
            <a:endParaRPr lang="en-US" sz="1150" dirty="0"/>
          </a:p>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SDG 11 — safe, resilient critical services.</a:t>
            </a:r>
            <a:endParaRPr lang="en-US" sz="1150" dirty="0"/>
          </a:p>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Supports NCIIPC's Critical Information Infrastructure mandate.</a:t>
            </a:r>
            <a:endParaRPr lang="en-US" sz="1150" dirty="0"/>
          </a:p>
        </p:txBody>
      </p:sp>
      <p:sp>
        <p:nvSpPr>
          <p:cNvPr id="21" name="Shape 18"/>
          <p:cNvSpPr/>
          <p:nvPr/>
        </p:nvSpPr>
        <p:spPr>
          <a:xfrm>
            <a:off x="6355080" y="4956048"/>
            <a:ext cx="5349240" cy="1170432"/>
          </a:xfrm>
          <a:prstGeom prst="roundRect">
            <a:avLst>
              <a:gd name="adj" fmla="val 5469"/>
            </a:avLst>
          </a:prstGeom>
          <a:solidFill>
            <a:srgbClr val="F3F6FA"/>
          </a:solidFill>
          <a:ln w="9525">
            <a:solidFill>
              <a:srgbClr val="DCDFE4"/>
            </a:solidFill>
            <a:prstDash val="solid"/>
          </a:ln>
        </p:spPr>
      </p:sp>
      <p:sp>
        <p:nvSpPr>
          <p:cNvPr id="22" name="Text 19"/>
          <p:cNvSpPr txBox="1"/>
          <p:nvPr/>
        </p:nvSpPr>
        <p:spPr>
          <a:xfrm>
            <a:off x="6556248" y="5074920"/>
            <a:ext cx="4946904" cy="237744"/>
          </a:xfrm>
          <a:prstGeom prst="rect">
            <a:avLst/>
          </a:prstGeom>
          <a:noFill/>
          <a:ln/>
        </p:spPr>
        <p:txBody>
          <a:bodyPr wrap="square" lIns="0" tIns="0" rIns="0" bIns="0" rtlCol="0" anchor="t"/>
          <a:lstStyle/>
          <a:p>
            <a:pPr indent="0" marL="0">
              <a:buNone/>
            </a:pPr>
            <a:r>
              <a:rPr lang="en-US" sz="1200" b="1" dirty="0">
                <a:solidFill>
                  <a:srgbClr val="B3202A"/>
                </a:solidFill>
                <a:latin typeface="Calibri" pitchFamily="34" charset="0"/>
                <a:ea typeface="Calibri" pitchFamily="34" charset="-122"/>
                <a:cs typeface="Calibri" pitchFamily="34" charset="-120"/>
              </a:rPr>
              <a:t>SAID PRECISELY</a:t>
            </a:r>
            <a:endParaRPr lang="en-US" sz="1200" dirty="0"/>
          </a:p>
        </p:txBody>
      </p:sp>
      <p:sp>
        <p:nvSpPr>
          <p:cNvPr id="23" name="Text 20"/>
          <p:cNvSpPr txBox="1"/>
          <p:nvPr/>
        </p:nvSpPr>
        <p:spPr>
          <a:xfrm>
            <a:off x="6556248" y="5340096"/>
            <a:ext cx="4946904" cy="667512"/>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96.9% is AGREEMENT WITH THE TEACHER — an efficiency figure. It is not a detection rate and we never present it as one. The detection claim is pending our own capture.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08  ·  PROTOTYPE &amp; DEMO</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Working today — and reproducible in front of you.</a:t>
            </a:r>
            <a:endParaRPr lang="en-US" sz="3000" dirty="0"/>
          </a:p>
        </p:txBody>
      </p:sp>
      <p:sp>
        <p:nvSpPr>
          <p:cNvPr id="4" name="Text 2"/>
          <p:cNvSpPr txBox="1"/>
          <p:nvPr/>
        </p:nvSpPr>
        <p:spPr>
          <a:xfrm>
            <a:off x="502920" y="1115568"/>
            <a:ext cx="11155680" cy="384048"/>
          </a:xfrm>
          <a:prstGeom prst="rect">
            <a:avLst/>
          </a:prstGeom>
          <a:noFill/>
          <a:ln/>
        </p:spPr>
        <p:txBody>
          <a:bodyPr wrap="square" lIns="0" tIns="0" rIns="0" bIns="0" rtlCol="0" anchor="ctr"/>
          <a:lstStyle/>
          <a:p>
            <a:pPr indent="0" marL="0">
              <a:buNone/>
            </a:pPr>
            <a:r>
              <a:rPr lang="en-US" sz="1400" dirty="0">
                <a:solidFill>
                  <a:srgbClr val="454A53"/>
                </a:solidFill>
                <a:latin typeface="Calibri" pitchFamily="34" charset="0"/>
                <a:ea typeface="Calibri" pitchFamily="34" charset="-122"/>
                <a:cs typeface="Calibri" pitchFamily="34" charset="-120"/>
              </a:rPr>
              <a:t>Tier 1 (6 ONNX experts) processes real PCAP end to end. Tier 2 (the cascade) is measured and re-runnable on stage.</a:t>
            </a:r>
            <a:endParaRPr lang="en-US" sz="1400" dirty="0"/>
          </a:p>
        </p:txBody>
      </p:sp>
      <p:sp>
        <p:nvSpPr>
          <p:cNvPr id="5" name="Shape 3"/>
          <p:cNvSpPr/>
          <p:nvPr/>
        </p:nvSpPr>
        <p:spPr>
          <a:xfrm>
            <a:off x="502920" y="1600200"/>
            <a:ext cx="5486400" cy="2331720"/>
          </a:xfrm>
          <a:prstGeom prst="roundRect">
            <a:avLst>
              <a:gd name="adj" fmla="val 2353"/>
            </a:avLst>
          </a:prstGeom>
          <a:solidFill>
            <a:srgbClr val="FFF3C4"/>
          </a:solidFill>
          <a:ln w="19050">
            <a:solidFill>
              <a:srgbClr val="D6A400"/>
            </a:solidFill>
            <a:prstDash val="dash"/>
          </a:ln>
        </p:spPr>
      </p:sp>
      <p:sp>
        <p:nvSpPr>
          <p:cNvPr id="6" name="Text 4"/>
          <p:cNvSpPr txBox="1"/>
          <p:nvPr/>
        </p:nvSpPr>
        <p:spPr>
          <a:xfrm>
            <a:off x="685800" y="2382012"/>
            <a:ext cx="5120640" cy="365760"/>
          </a:xfrm>
          <a:prstGeom prst="rect">
            <a:avLst/>
          </a:prstGeom>
          <a:noFill/>
          <a:ln/>
        </p:spPr>
        <p:txBody>
          <a:bodyPr wrap="square" lIns="0" tIns="0" rIns="0" bIns="0" rtlCol="0" anchor="ctr"/>
          <a:lstStyle/>
          <a:p>
            <a:pPr algn="ctr" indent="0" marL="0">
              <a:buNone/>
            </a:pPr>
            <a:r>
              <a:rPr lang="en-US" sz="1300" b="1" dirty="0">
                <a:solidFill>
                  <a:srgbClr val="6B4E00"/>
                </a:solidFill>
                <a:latin typeface="Calibri" pitchFamily="34" charset="0"/>
                <a:ea typeface="Calibri" pitchFamily="34" charset="-122"/>
                <a:cs typeface="Calibri" pitchFamily="34" charset="-120"/>
              </a:rPr>
              <a:t>PASTE SCREENSHOT: live dashboard / landing page</a:t>
            </a:r>
            <a:endParaRPr lang="en-US" sz="1300" dirty="0"/>
          </a:p>
        </p:txBody>
      </p:sp>
      <p:sp>
        <p:nvSpPr>
          <p:cNvPr id="7" name="Text 5"/>
          <p:cNvSpPr txBox="1"/>
          <p:nvPr/>
        </p:nvSpPr>
        <p:spPr>
          <a:xfrm>
            <a:off x="685800" y="2747772"/>
            <a:ext cx="5120640" cy="548640"/>
          </a:xfrm>
          <a:prstGeom prst="rect">
            <a:avLst/>
          </a:prstGeom>
          <a:noFill/>
          <a:ln/>
        </p:spPr>
        <p:txBody>
          <a:bodyPr wrap="square" lIns="0" tIns="0" rIns="0" bIns="0" rtlCol="0" anchor="ctr"/>
          <a:lstStyle/>
          <a:p>
            <a:pPr algn="ctr" indent="0" marL="0">
              <a:buNone/>
            </a:pPr>
            <a:r>
              <a:rPr lang="en-US" sz="1050" dirty="0">
                <a:solidFill>
                  <a:srgbClr val="6B4E00"/>
                </a:solidFill>
                <a:latin typeface="Calibri" pitchFamily="34" charset="0"/>
                <a:ea typeface="Calibri" pitchFamily="34" charset="-122"/>
                <a:cs typeface="Calibri" pitchFamily="34" charset="-120"/>
              </a:rPr>
              <a:t>Recommended: the React threat dashboard mid-replay, or saharasaathi-style landing page.</a:t>
            </a:r>
            <a:endParaRPr lang="en-US" sz="1050" dirty="0"/>
          </a:p>
          <a:p>
            <a:pPr algn="ctr" indent="0" marL="0">
              <a:buNone/>
            </a:pPr>
            <a:r>
              <a:rPr lang="en-US" sz="1050" dirty="0">
                <a:solidFill>
                  <a:srgbClr val="6B4E00"/>
                </a:solidFill>
                <a:latin typeface="Calibri" pitchFamily="34" charset="0"/>
                <a:ea typeface="Calibri" pitchFamily="34" charset="-122"/>
                <a:cs typeface="Calibri" pitchFamily="34" charset="-120"/>
              </a:rPr>
              <a:t>Delete this yellow box after pasting.</a:t>
            </a:r>
            <a:endParaRPr lang="en-US" sz="1050" dirty="0"/>
          </a:p>
        </p:txBody>
      </p:sp>
      <p:sp>
        <p:nvSpPr>
          <p:cNvPr id="8" name="Shape 6"/>
          <p:cNvSpPr/>
          <p:nvPr/>
        </p:nvSpPr>
        <p:spPr>
          <a:xfrm>
            <a:off x="502920" y="4114800"/>
            <a:ext cx="5486400" cy="2011680"/>
          </a:xfrm>
          <a:prstGeom prst="roundRect">
            <a:avLst>
              <a:gd name="adj" fmla="val 2727"/>
            </a:avLst>
          </a:prstGeom>
          <a:solidFill>
            <a:srgbClr val="FFF3C4"/>
          </a:solidFill>
          <a:ln w="19050">
            <a:solidFill>
              <a:srgbClr val="D6A400"/>
            </a:solidFill>
            <a:prstDash val="dash"/>
          </a:ln>
        </p:spPr>
      </p:sp>
      <p:sp>
        <p:nvSpPr>
          <p:cNvPr id="9" name="Text 7"/>
          <p:cNvSpPr txBox="1"/>
          <p:nvPr/>
        </p:nvSpPr>
        <p:spPr>
          <a:xfrm>
            <a:off x="685800" y="4736592"/>
            <a:ext cx="5120640" cy="365760"/>
          </a:xfrm>
          <a:prstGeom prst="rect">
            <a:avLst/>
          </a:prstGeom>
          <a:noFill/>
          <a:ln/>
        </p:spPr>
        <p:txBody>
          <a:bodyPr wrap="square" lIns="0" tIns="0" rIns="0" bIns="0" rtlCol="0" anchor="ctr"/>
          <a:lstStyle/>
          <a:p>
            <a:pPr algn="ctr" indent="0" marL="0">
              <a:buNone/>
            </a:pPr>
            <a:r>
              <a:rPr lang="en-US" sz="1300" b="1" dirty="0">
                <a:solidFill>
                  <a:srgbClr val="6B4E00"/>
                </a:solidFill>
                <a:latin typeface="Calibri" pitchFamily="34" charset="0"/>
                <a:ea typeface="Calibri" pitchFamily="34" charset="-122"/>
                <a:cs typeface="Calibri" pitchFamily="34" charset="-120"/>
              </a:rPr>
              <a:t>PASTE SCREENSHOT: demo_scenario.py kill-chain reconstruction</a:t>
            </a:r>
            <a:endParaRPr lang="en-US" sz="1300" dirty="0"/>
          </a:p>
        </p:txBody>
      </p:sp>
      <p:sp>
        <p:nvSpPr>
          <p:cNvPr id="10" name="Text 8"/>
          <p:cNvSpPr txBox="1"/>
          <p:nvPr/>
        </p:nvSpPr>
        <p:spPr>
          <a:xfrm>
            <a:off x="685800" y="5102352"/>
            <a:ext cx="5120640" cy="548640"/>
          </a:xfrm>
          <a:prstGeom prst="rect">
            <a:avLst/>
          </a:prstGeom>
          <a:noFill/>
          <a:ln/>
        </p:spPr>
        <p:txBody>
          <a:bodyPr wrap="square" lIns="0" tIns="0" rIns="0" bIns="0" rtlCol="0" anchor="ctr"/>
          <a:lstStyle/>
          <a:p>
            <a:pPr algn="ctr" indent="0" marL="0">
              <a:buNone/>
            </a:pPr>
            <a:r>
              <a:rPr lang="en-US" sz="1050" dirty="0">
                <a:solidFill>
                  <a:srgbClr val="6B4E00"/>
                </a:solidFill>
                <a:latin typeface="Calibri" pitchFamily="34" charset="0"/>
                <a:ea typeface="Calibri" pitchFamily="34" charset="-122"/>
                <a:cs typeface="Calibri" pitchFamily="34" charset="-120"/>
              </a:rPr>
              <a:t>The terminal block showing chain steps 1/4 → 4/4 with ESCALATED markers.</a:t>
            </a:r>
            <a:endParaRPr lang="en-US" sz="1050" dirty="0"/>
          </a:p>
          <a:p>
            <a:pPr algn="ctr" indent="0" marL="0">
              <a:buNone/>
            </a:pPr>
            <a:r>
              <a:rPr lang="en-US" sz="1050" dirty="0">
                <a:solidFill>
                  <a:srgbClr val="6B4E00"/>
                </a:solidFill>
                <a:latin typeface="Calibri" pitchFamily="34" charset="0"/>
                <a:ea typeface="Calibri" pitchFamily="34" charset="-122"/>
                <a:cs typeface="Calibri" pitchFamily="34" charset="-120"/>
              </a:rPr>
              <a:t>Delete this yellow box after pasting.</a:t>
            </a:r>
            <a:endParaRPr lang="en-US" sz="1050" dirty="0"/>
          </a:p>
        </p:txBody>
      </p:sp>
      <p:sp>
        <p:nvSpPr>
          <p:cNvPr id="11" name="Shape 9"/>
          <p:cNvSpPr/>
          <p:nvPr/>
        </p:nvSpPr>
        <p:spPr>
          <a:xfrm>
            <a:off x="6263640" y="1600200"/>
            <a:ext cx="5440680" cy="1481328"/>
          </a:xfrm>
          <a:prstGeom prst="roundRect">
            <a:avLst>
              <a:gd name="adj" fmla="val 4321"/>
            </a:avLst>
          </a:prstGeom>
          <a:solidFill>
            <a:srgbClr val="F3F6FA"/>
          </a:solidFill>
          <a:ln w="9525">
            <a:solidFill>
              <a:srgbClr val="DCDFE4"/>
            </a:solidFill>
            <a:prstDash val="solid"/>
          </a:ln>
        </p:spPr>
      </p:sp>
      <p:sp>
        <p:nvSpPr>
          <p:cNvPr id="12" name="Text 10"/>
          <p:cNvSpPr txBox="1"/>
          <p:nvPr/>
        </p:nvSpPr>
        <p:spPr>
          <a:xfrm>
            <a:off x="6464808" y="1719072"/>
            <a:ext cx="5038344" cy="237744"/>
          </a:xfrm>
          <a:prstGeom prst="rect">
            <a:avLst/>
          </a:prstGeom>
          <a:noFill/>
          <a:ln/>
        </p:spPr>
        <p:txBody>
          <a:bodyPr wrap="square" lIns="0" tIns="0" rIns="0" bIns="0" rtlCol="0" anchor="t"/>
          <a:lstStyle/>
          <a:p>
            <a:pPr indent="0" marL="0">
              <a:buNone/>
            </a:pPr>
            <a:r>
              <a:rPr lang="en-US" sz="1200" b="1" dirty="0">
                <a:solidFill>
                  <a:srgbClr val="0F2340"/>
                </a:solidFill>
                <a:latin typeface="Calibri" pitchFamily="34" charset="0"/>
                <a:ea typeface="Calibri" pitchFamily="34" charset="-122"/>
                <a:cs typeface="Calibri" pitchFamily="34" charset="-120"/>
              </a:rPr>
              <a:t>WHAT ALREADY RUNS</a:t>
            </a:r>
            <a:endParaRPr lang="en-US" sz="1200" dirty="0"/>
          </a:p>
        </p:txBody>
      </p:sp>
      <p:sp>
        <p:nvSpPr>
          <p:cNvPr id="13" name="Text 11"/>
          <p:cNvSpPr txBox="1"/>
          <p:nvPr/>
        </p:nvSpPr>
        <p:spPr>
          <a:xfrm>
            <a:off x="6464808" y="1984248"/>
            <a:ext cx="5038344" cy="978408"/>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6/6 ONNX experts load. 8.8 GB Friday-WorkingHours.pcap → 32,266 alerts across all six classes, 42.5 flows/s, 23 ms latency, 280 MB RSS. Full path: PCAP → extract → infer → alert → WebSocket → dashboard.</a:t>
            </a:r>
            <a:endParaRPr lang="en-US" sz="1150" dirty="0"/>
          </a:p>
        </p:txBody>
      </p:sp>
      <p:sp>
        <p:nvSpPr>
          <p:cNvPr id="14" name="Shape 12"/>
          <p:cNvSpPr/>
          <p:nvPr/>
        </p:nvSpPr>
        <p:spPr>
          <a:xfrm>
            <a:off x="6263640" y="3172968"/>
            <a:ext cx="5440680" cy="1371600"/>
          </a:xfrm>
          <a:prstGeom prst="roundRect">
            <a:avLst>
              <a:gd name="adj" fmla="val 4667"/>
            </a:avLst>
          </a:prstGeom>
          <a:solidFill>
            <a:srgbClr val="F3F6FA"/>
          </a:solidFill>
          <a:ln w="9525">
            <a:solidFill>
              <a:srgbClr val="DCDFE4"/>
            </a:solidFill>
            <a:prstDash val="solid"/>
          </a:ln>
        </p:spPr>
      </p:sp>
      <p:sp>
        <p:nvSpPr>
          <p:cNvPr id="15" name="Text 13"/>
          <p:cNvSpPr txBox="1"/>
          <p:nvPr/>
        </p:nvSpPr>
        <p:spPr>
          <a:xfrm>
            <a:off x="6464808" y="3291840"/>
            <a:ext cx="5038344" cy="237744"/>
          </a:xfrm>
          <a:prstGeom prst="rect">
            <a:avLst/>
          </a:prstGeom>
          <a:noFill/>
          <a:ln/>
        </p:spPr>
        <p:txBody>
          <a:bodyPr wrap="square" lIns="0" tIns="0" rIns="0" bIns="0" rtlCol="0" anchor="t"/>
          <a:lstStyle/>
          <a:p>
            <a:pPr indent="0" marL="0">
              <a:buNone/>
            </a:pPr>
            <a:r>
              <a:rPr lang="en-US" sz="1200" b="1" dirty="0">
                <a:solidFill>
                  <a:srgbClr val="108A5F"/>
                </a:solidFill>
                <a:latin typeface="Calibri" pitchFamily="34" charset="0"/>
                <a:ea typeface="Calibri" pitchFamily="34" charset="-122"/>
                <a:cs typeface="Calibri" pitchFamily="34" charset="-120"/>
              </a:rPr>
              <a:t>REPRODUCIBLE ON STAGE, ~45 s</a:t>
            </a:r>
            <a:endParaRPr lang="en-US" sz="1200" dirty="0"/>
          </a:p>
        </p:txBody>
      </p:sp>
      <p:sp>
        <p:nvSpPr>
          <p:cNvPr id="16" name="Text 14"/>
          <p:cNvSpPr txBox="1"/>
          <p:nvPr/>
        </p:nvSpPr>
        <p:spPr>
          <a:xfrm>
            <a:off x="6464808" y="3557016"/>
            <a:ext cx="5038344" cy="868680"/>
          </a:xfrm>
          <a:prstGeom prst="rect">
            <a:avLst/>
          </a:prstGeom>
          <a:noFill/>
          <a:ln/>
        </p:spPr>
        <p:txBody>
          <a:bodyPr wrap="square" lIns="0" tIns="0" rIns="0" bIns="0" rtlCol="0" anchor="t"/>
          <a:lstStyle/>
          <a:p>
            <a:pPr indent="0" marL="0">
              <a:lnSpc>
                <a:spcPct val="105000"/>
              </a:lnSpc>
              <a:buNone/>
            </a:pPr>
            <a:r>
              <a:rPr lang="en-US" sz="1150" dirty="0">
                <a:solidFill>
                  <a:srgbClr val="454A53"/>
                </a:solidFill>
                <a:latin typeface="Calibri" pitchFamily="34" charset="0"/>
                <a:ea typeface="Calibri" pitchFamily="34" charset="-122"/>
                <a:cs typeface="Calibri" pitchFamily="34" charset="-120"/>
              </a:rPr>
              <a:t>demo_scenario.py builds a synthetic organisation, commissions the Inspector, distils the Sentry, escalates the top 5% back, and prints the reconstructed chain — every stage trained live, not replayed.</a:t>
            </a:r>
            <a:endParaRPr lang="en-US" sz="1150" dirty="0"/>
          </a:p>
        </p:txBody>
      </p:sp>
      <p:sp>
        <p:nvSpPr>
          <p:cNvPr id="17" name="Shape 15"/>
          <p:cNvSpPr/>
          <p:nvPr/>
        </p:nvSpPr>
        <p:spPr>
          <a:xfrm>
            <a:off x="6263640" y="4636008"/>
            <a:ext cx="5440680" cy="1490472"/>
          </a:xfrm>
          <a:prstGeom prst="roundRect">
            <a:avLst>
              <a:gd name="adj" fmla="val 3681"/>
            </a:avLst>
          </a:prstGeom>
          <a:solidFill>
            <a:srgbClr val="FFF3C4"/>
          </a:solidFill>
          <a:ln w="19050">
            <a:solidFill>
              <a:srgbClr val="D6A400"/>
            </a:solidFill>
            <a:prstDash val="dash"/>
          </a:ln>
        </p:spPr>
      </p:sp>
      <p:sp>
        <p:nvSpPr>
          <p:cNvPr id="18" name="Text 16"/>
          <p:cNvSpPr txBox="1"/>
          <p:nvPr/>
        </p:nvSpPr>
        <p:spPr>
          <a:xfrm>
            <a:off x="6446520" y="4997196"/>
            <a:ext cx="5074920" cy="365760"/>
          </a:xfrm>
          <a:prstGeom prst="rect">
            <a:avLst/>
          </a:prstGeom>
          <a:noFill/>
          <a:ln/>
        </p:spPr>
        <p:txBody>
          <a:bodyPr wrap="square" lIns="0" tIns="0" rIns="0" bIns="0" rtlCol="0" anchor="ctr"/>
          <a:lstStyle/>
          <a:p>
            <a:pPr algn="ctr" indent="0" marL="0">
              <a:buNone/>
            </a:pPr>
            <a:r>
              <a:rPr lang="en-US" sz="1300" b="1" dirty="0">
                <a:solidFill>
                  <a:srgbClr val="6B4E00"/>
                </a:solidFill>
                <a:latin typeface="Calibri" pitchFamily="34" charset="0"/>
                <a:ea typeface="Calibri" pitchFamily="34" charset="-122"/>
                <a:cs typeface="Calibri" pitchFamily="34" charset="-120"/>
              </a:rPr>
              <a:t>RESULT SLOT — fill from inject_demo.py, 19 Sep</a:t>
            </a:r>
            <a:endParaRPr lang="en-US" sz="1300" dirty="0"/>
          </a:p>
        </p:txBody>
      </p:sp>
      <p:sp>
        <p:nvSpPr>
          <p:cNvPr id="19" name="Text 17"/>
          <p:cNvSpPr txBox="1"/>
          <p:nvPr/>
        </p:nvSpPr>
        <p:spPr>
          <a:xfrm>
            <a:off x="6446520" y="5362956"/>
            <a:ext cx="5074920" cy="548640"/>
          </a:xfrm>
          <a:prstGeom prst="rect">
            <a:avLst/>
          </a:prstGeom>
          <a:noFill/>
          <a:ln/>
        </p:spPr>
        <p:txBody>
          <a:bodyPr wrap="square" lIns="0" tIns="0" rIns="0" bIns="0" rtlCol="0" anchor="ctr"/>
          <a:lstStyle/>
          <a:p>
            <a:pPr algn="ctr" indent="0" marL="0">
              <a:buNone/>
            </a:pPr>
            <a:r>
              <a:rPr lang="en-US" sz="1050" dirty="0">
                <a:solidFill>
                  <a:srgbClr val="6B4E00"/>
                </a:solidFill>
                <a:latin typeface="Calibri" pitchFamily="34" charset="0"/>
                <a:ea typeface="Calibri" pitchFamily="34" charset="-122"/>
                <a:cs typeface="Calibri" pitchFamily="34" charset="-120"/>
              </a:rPr>
              <a:t>Real captured background + injected kill chain + benign-surge CONTROL.</a:t>
            </a:r>
            <a:endParaRPr lang="en-US" sz="1050" dirty="0"/>
          </a:p>
          <a:p>
            <a:pPr algn="ctr" indent="0" marL="0">
              <a:buNone/>
            </a:pPr>
            <a:r>
              <a:rPr lang="en-US" sz="1050" dirty="0">
                <a:solidFill>
                  <a:srgbClr val="6B4E00"/>
                </a:solidFill>
                <a:latin typeface="Calibri" pitchFamily="34" charset="0"/>
                <a:ea typeface="Calibri" pitchFamily="34" charset="-122"/>
                <a:cs typeface="Calibri" pitchFamily="34" charset="-120"/>
              </a:rPr>
              <a:t>Paste condition A / B / C flag counts here once condition B comes back clean.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SLIDE 09  ·  36-HOUR PLAN</a:t>
            </a:r>
            <a:endParaRPr lang="en-US" sz="1150" dirty="0"/>
          </a:p>
        </p:txBody>
      </p:sp>
      <p:sp>
        <p:nvSpPr>
          <p:cNvPr id="3"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0F2340"/>
                </a:solidFill>
                <a:latin typeface="Cambria" pitchFamily="34" charset="0"/>
                <a:ea typeface="Cambria" pitchFamily="34" charset="-122"/>
                <a:cs typeface="Cambria" pitchFamily="34" charset="-120"/>
              </a:rPr>
              <a:t>What gets built at the Grand Finale, and who builds it.</a:t>
            </a:r>
            <a:endParaRPr lang="en-US" sz="3000" dirty="0"/>
          </a:p>
        </p:txBody>
      </p:sp>
      <p:sp>
        <p:nvSpPr>
          <p:cNvPr id="4" name="Shape 2"/>
          <p:cNvSpPr/>
          <p:nvPr/>
        </p:nvSpPr>
        <p:spPr>
          <a:xfrm>
            <a:off x="420624" y="1216152"/>
            <a:ext cx="11320272" cy="4370832"/>
          </a:xfrm>
          <a:prstGeom prst="roundRect">
            <a:avLst>
              <a:gd name="adj" fmla="val 1255"/>
            </a:avLst>
          </a:prstGeom>
          <a:solidFill>
            <a:srgbClr val="232428"/>
          </a:solidFill>
          <a:ln w="9525">
            <a:solidFill>
              <a:srgbClr val="3A3C42"/>
            </a:solidFill>
            <a:prstDash val="solid"/>
          </a:ln>
        </p:spPr>
      </p:sp>
      <p:pic>
        <p:nvPicPr>
          <p:cNvPr id="5" name="Image 0" descr="/home/claude/ppt/assets/timeline.png">    </p:cNvPr>
          <p:cNvPicPr>
            <a:picLocks noChangeAspect="1"/>
          </p:cNvPicPr>
          <p:nvPr/>
        </p:nvPicPr>
        <p:blipFill>
          <a:blip r:embed="rId1"/>
          <a:stretch>
            <a:fillRect/>
          </a:stretch>
        </p:blipFill>
        <p:spPr>
          <a:xfrm>
            <a:off x="502920" y="1298448"/>
            <a:ext cx="11155680" cy="4206240"/>
          </a:xfrm>
          <a:prstGeom prst="rect">
            <a:avLst/>
          </a:prstGeom>
        </p:spPr>
      </p:pic>
      <p:sp>
        <p:nvSpPr>
          <p:cNvPr id="6" name="Text 3"/>
          <p:cNvSpPr txBox="1"/>
          <p:nvPr/>
        </p:nvSpPr>
        <p:spPr>
          <a:xfrm>
            <a:off x="502920" y="5715000"/>
            <a:ext cx="11155680" cy="274320"/>
          </a:xfrm>
          <a:prstGeom prst="rect">
            <a:avLst/>
          </a:prstGeom>
          <a:noFill/>
          <a:ln/>
        </p:spPr>
        <p:txBody>
          <a:bodyPr wrap="square" lIns="0" tIns="0" rIns="0" bIns="0" rtlCol="0" anchor="ctr"/>
          <a:lstStyle/>
          <a:p>
            <a:pPr indent="0" marL="0">
              <a:buNone/>
            </a:pPr>
            <a:r>
              <a:rPr lang="en-US" sz="1150" dirty="0">
                <a:solidFill>
                  <a:srgbClr val="454A53"/>
                </a:solidFill>
                <a:latin typeface="Calibri" pitchFamily="34" charset="0"/>
                <a:ea typeface="Calibri" pitchFamily="34" charset="-122"/>
                <a:cs typeface="Calibri" pitchFamily="34" charset="-120"/>
              </a:rPr>
              <a:t>Roles: Dev 1 — models and evaluation.  Dev 2 — capture, pipeline, backend.  Dev 3 — frontend, evidence panel, demo.  Replace with real names on slide 10.</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340"/>
        </a:solidFill>
      </p:bgPr>
    </p:bg>
    <p:spTree>
      <p:nvGrpSpPr>
        <p:cNvPr id="1" name=""/>
        <p:cNvGrpSpPr/>
        <p:nvPr/>
      </p:nvGrpSpPr>
      <p:grpSpPr>
        <a:xfrm>
          <a:off x="0" y="0"/>
          <a:ext cx="0" cy="0"/>
          <a:chOff x="0" y="0"/>
          <a:chExt cx="0" cy="0"/>
        </a:xfrm>
      </p:grpSpPr>
      <p:sp>
        <p:nvSpPr>
          <p:cNvPr id="2" name="Text 0"/>
          <p:cNvSpPr txBox="1"/>
          <p:nvPr/>
        </p:nvSpPr>
        <p:spPr>
          <a:xfrm>
            <a:off x="502920" y="384048"/>
            <a:ext cx="8229600" cy="256032"/>
          </a:xfrm>
          <a:prstGeom prst="rect">
            <a:avLst/>
          </a:prstGeom>
          <a:noFill/>
          <a:ln/>
        </p:spPr>
        <p:txBody>
          <a:bodyPr wrap="square" lIns="0" tIns="0" rIns="0" bIns="0" rtlCol="0" anchor="ctr"/>
          <a:lstStyle/>
          <a:p>
            <a:pPr indent="0" marL="0">
              <a:buNone/>
            </a:pPr>
            <a:r>
              <a:rPr lang="en-US" sz="1150" b="1" spc="160" kern="0" dirty="0">
                <a:solidFill>
                  <a:srgbClr val="7FB6F2"/>
                </a:solidFill>
                <a:latin typeface="Calibri" pitchFamily="34" charset="0"/>
                <a:ea typeface="Calibri" pitchFamily="34" charset="-122"/>
                <a:cs typeface="Calibri" pitchFamily="34" charset="-120"/>
              </a:rPr>
              <a:t>SLIDE 10  ·  TEAM &amp; REFERENCES</a:t>
            </a:r>
            <a:endParaRPr lang="en-US" sz="1150" dirty="0"/>
          </a:p>
        </p:txBody>
      </p:sp>
      <p:sp>
        <p:nvSpPr>
          <p:cNvPr id="3" name="Text 1"/>
          <p:cNvSpPr txBox="1"/>
          <p:nvPr/>
        </p:nvSpPr>
        <p:spPr>
          <a:xfrm>
            <a:off x="502920" y="658368"/>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Who built it, and what we built it on.</a:t>
            </a:r>
            <a:endParaRPr lang="en-US" sz="3000" dirty="0"/>
          </a:p>
        </p:txBody>
      </p:sp>
      <p:sp>
        <p:nvSpPr>
          <p:cNvPr id="4" name="Shape 2"/>
          <p:cNvSpPr/>
          <p:nvPr/>
        </p:nvSpPr>
        <p:spPr>
          <a:xfrm>
            <a:off x="502920" y="1481328"/>
            <a:ext cx="3566160" cy="1078992"/>
          </a:xfrm>
          <a:prstGeom prst="roundRect">
            <a:avLst>
              <a:gd name="adj" fmla="val 5932"/>
            </a:avLst>
          </a:prstGeom>
          <a:solidFill>
            <a:srgbClr val="16304F"/>
          </a:solidFill>
          <a:ln w="9525">
            <a:solidFill>
              <a:srgbClr val="27476F"/>
            </a:solidFill>
            <a:prstDash val="solid"/>
          </a:ln>
        </p:spPr>
      </p:sp>
      <p:sp>
        <p:nvSpPr>
          <p:cNvPr id="5" name="Text 3"/>
          <p:cNvSpPr txBox="1"/>
          <p:nvPr/>
        </p:nvSpPr>
        <p:spPr>
          <a:xfrm>
            <a:off x="685800" y="160020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1»</a:t>
            </a:r>
            <a:endParaRPr lang="en-US" sz="1400" dirty="0"/>
          </a:p>
        </p:txBody>
      </p:sp>
      <p:sp>
        <p:nvSpPr>
          <p:cNvPr id="6" name="Text 4"/>
          <p:cNvSpPr txBox="1"/>
          <p:nvPr/>
        </p:nvSpPr>
        <p:spPr>
          <a:xfrm>
            <a:off x="685800" y="186537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7" name="Text 5"/>
          <p:cNvSpPr txBox="1"/>
          <p:nvPr/>
        </p:nvSpPr>
        <p:spPr>
          <a:xfrm>
            <a:off x="685800" y="207568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ML / evaluation — Inspector, distillation, multi-seed protocol</a:t>
            </a:r>
            <a:endParaRPr lang="en-US" sz="1050" dirty="0"/>
          </a:p>
        </p:txBody>
      </p:sp>
      <p:sp>
        <p:nvSpPr>
          <p:cNvPr id="8" name="Shape 6"/>
          <p:cNvSpPr/>
          <p:nvPr/>
        </p:nvSpPr>
        <p:spPr>
          <a:xfrm>
            <a:off x="4279392" y="1481328"/>
            <a:ext cx="3566160" cy="1078992"/>
          </a:xfrm>
          <a:prstGeom prst="roundRect">
            <a:avLst>
              <a:gd name="adj" fmla="val 5932"/>
            </a:avLst>
          </a:prstGeom>
          <a:solidFill>
            <a:srgbClr val="16304F"/>
          </a:solidFill>
          <a:ln w="9525">
            <a:solidFill>
              <a:srgbClr val="27476F"/>
            </a:solidFill>
            <a:prstDash val="solid"/>
          </a:ln>
        </p:spPr>
      </p:sp>
      <p:sp>
        <p:nvSpPr>
          <p:cNvPr id="9" name="Text 7"/>
          <p:cNvSpPr txBox="1"/>
          <p:nvPr/>
        </p:nvSpPr>
        <p:spPr>
          <a:xfrm>
            <a:off x="4462272" y="160020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2»</a:t>
            </a:r>
            <a:endParaRPr lang="en-US" sz="1400" dirty="0"/>
          </a:p>
        </p:txBody>
      </p:sp>
      <p:sp>
        <p:nvSpPr>
          <p:cNvPr id="10" name="Text 8"/>
          <p:cNvSpPr txBox="1"/>
          <p:nvPr/>
        </p:nvSpPr>
        <p:spPr>
          <a:xfrm>
            <a:off x="4462272" y="186537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11" name="Text 9"/>
          <p:cNvSpPr txBox="1"/>
          <p:nvPr/>
        </p:nvSpPr>
        <p:spPr>
          <a:xfrm>
            <a:off x="4462272" y="207568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Capture &amp; data pipeline — Zeek, resolver, tensor builder</a:t>
            </a:r>
            <a:endParaRPr lang="en-US" sz="1050" dirty="0"/>
          </a:p>
        </p:txBody>
      </p:sp>
      <p:sp>
        <p:nvSpPr>
          <p:cNvPr id="12" name="Shape 10"/>
          <p:cNvSpPr/>
          <p:nvPr/>
        </p:nvSpPr>
        <p:spPr>
          <a:xfrm>
            <a:off x="8055864" y="1481328"/>
            <a:ext cx="3566160" cy="1078992"/>
          </a:xfrm>
          <a:prstGeom prst="roundRect">
            <a:avLst>
              <a:gd name="adj" fmla="val 5932"/>
            </a:avLst>
          </a:prstGeom>
          <a:solidFill>
            <a:srgbClr val="16304F"/>
          </a:solidFill>
          <a:ln w="9525">
            <a:solidFill>
              <a:srgbClr val="27476F"/>
            </a:solidFill>
            <a:prstDash val="solid"/>
          </a:ln>
        </p:spPr>
      </p:sp>
      <p:sp>
        <p:nvSpPr>
          <p:cNvPr id="13" name="Text 11"/>
          <p:cNvSpPr txBox="1"/>
          <p:nvPr/>
        </p:nvSpPr>
        <p:spPr>
          <a:xfrm>
            <a:off x="8238744" y="160020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3»</a:t>
            </a:r>
            <a:endParaRPr lang="en-US" sz="1400" dirty="0"/>
          </a:p>
        </p:txBody>
      </p:sp>
      <p:sp>
        <p:nvSpPr>
          <p:cNvPr id="14" name="Text 12"/>
          <p:cNvSpPr txBox="1"/>
          <p:nvPr/>
        </p:nvSpPr>
        <p:spPr>
          <a:xfrm>
            <a:off x="8238744" y="186537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15" name="Text 13"/>
          <p:cNvSpPr txBox="1"/>
          <p:nvPr/>
        </p:nvSpPr>
        <p:spPr>
          <a:xfrm>
            <a:off x="8238744" y="207568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Backend — FastAPI, WebSocket hub, ONNX serving</a:t>
            </a:r>
            <a:endParaRPr lang="en-US" sz="1050" dirty="0"/>
          </a:p>
        </p:txBody>
      </p:sp>
      <p:sp>
        <p:nvSpPr>
          <p:cNvPr id="16" name="Shape 14"/>
          <p:cNvSpPr/>
          <p:nvPr/>
        </p:nvSpPr>
        <p:spPr>
          <a:xfrm>
            <a:off x="502920" y="2715768"/>
            <a:ext cx="3566160" cy="1078992"/>
          </a:xfrm>
          <a:prstGeom prst="roundRect">
            <a:avLst>
              <a:gd name="adj" fmla="val 5932"/>
            </a:avLst>
          </a:prstGeom>
          <a:solidFill>
            <a:srgbClr val="16304F"/>
          </a:solidFill>
          <a:ln w="9525">
            <a:solidFill>
              <a:srgbClr val="27476F"/>
            </a:solidFill>
            <a:prstDash val="solid"/>
          </a:ln>
        </p:spPr>
      </p:sp>
      <p:sp>
        <p:nvSpPr>
          <p:cNvPr id="17" name="Text 15"/>
          <p:cNvSpPr txBox="1"/>
          <p:nvPr/>
        </p:nvSpPr>
        <p:spPr>
          <a:xfrm>
            <a:off x="685800" y="283464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4»</a:t>
            </a:r>
            <a:endParaRPr lang="en-US" sz="1400" dirty="0"/>
          </a:p>
        </p:txBody>
      </p:sp>
      <p:sp>
        <p:nvSpPr>
          <p:cNvPr id="18" name="Text 16"/>
          <p:cNvSpPr txBox="1"/>
          <p:nvPr/>
        </p:nvSpPr>
        <p:spPr>
          <a:xfrm>
            <a:off x="685800" y="309981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19" name="Text 17"/>
          <p:cNvSpPr txBox="1"/>
          <p:nvPr/>
        </p:nvSpPr>
        <p:spPr>
          <a:xfrm>
            <a:off x="685800" y="331012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Frontend — React dashboard, evidence panel, threat graph</a:t>
            </a:r>
            <a:endParaRPr lang="en-US" sz="1050" dirty="0"/>
          </a:p>
        </p:txBody>
      </p:sp>
      <p:sp>
        <p:nvSpPr>
          <p:cNvPr id="20" name="Shape 18"/>
          <p:cNvSpPr/>
          <p:nvPr/>
        </p:nvSpPr>
        <p:spPr>
          <a:xfrm>
            <a:off x="4279392" y="2715768"/>
            <a:ext cx="3566160" cy="1078992"/>
          </a:xfrm>
          <a:prstGeom prst="roundRect">
            <a:avLst>
              <a:gd name="adj" fmla="val 5932"/>
            </a:avLst>
          </a:prstGeom>
          <a:solidFill>
            <a:srgbClr val="16304F"/>
          </a:solidFill>
          <a:ln w="9525">
            <a:solidFill>
              <a:srgbClr val="27476F"/>
            </a:solidFill>
            <a:prstDash val="solid"/>
          </a:ln>
        </p:spPr>
      </p:sp>
      <p:sp>
        <p:nvSpPr>
          <p:cNvPr id="21" name="Text 19"/>
          <p:cNvSpPr txBox="1"/>
          <p:nvPr/>
        </p:nvSpPr>
        <p:spPr>
          <a:xfrm>
            <a:off x="4462272" y="283464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5»</a:t>
            </a:r>
            <a:endParaRPr lang="en-US" sz="1400" dirty="0"/>
          </a:p>
        </p:txBody>
      </p:sp>
      <p:sp>
        <p:nvSpPr>
          <p:cNvPr id="22" name="Text 20"/>
          <p:cNvSpPr txBox="1"/>
          <p:nvPr/>
        </p:nvSpPr>
        <p:spPr>
          <a:xfrm>
            <a:off x="4462272" y="309981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23" name="Text 21"/>
          <p:cNvSpPr txBox="1"/>
          <p:nvPr/>
        </p:nvSpPr>
        <p:spPr>
          <a:xfrm>
            <a:off x="4462272" y="331012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Security research — LOTS taxonomy, MITRE mapping, threat model</a:t>
            </a:r>
            <a:endParaRPr lang="en-US" sz="1050" dirty="0"/>
          </a:p>
        </p:txBody>
      </p:sp>
      <p:sp>
        <p:nvSpPr>
          <p:cNvPr id="24" name="Shape 22"/>
          <p:cNvSpPr/>
          <p:nvPr/>
        </p:nvSpPr>
        <p:spPr>
          <a:xfrm>
            <a:off x="8055864" y="2715768"/>
            <a:ext cx="3566160" cy="1078992"/>
          </a:xfrm>
          <a:prstGeom prst="roundRect">
            <a:avLst>
              <a:gd name="adj" fmla="val 5932"/>
            </a:avLst>
          </a:prstGeom>
          <a:solidFill>
            <a:srgbClr val="16304F"/>
          </a:solidFill>
          <a:ln w="9525">
            <a:solidFill>
              <a:srgbClr val="27476F"/>
            </a:solidFill>
            <a:prstDash val="solid"/>
          </a:ln>
        </p:spPr>
      </p:sp>
      <p:sp>
        <p:nvSpPr>
          <p:cNvPr id="25" name="Text 23"/>
          <p:cNvSpPr txBox="1"/>
          <p:nvPr/>
        </p:nvSpPr>
        <p:spPr>
          <a:xfrm>
            <a:off x="8238744" y="2834640"/>
            <a:ext cx="3200400" cy="274320"/>
          </a:xfrm>
          <a:prstGeom prst="rect">
            <a:avLst/>
          </a:prstGeom>
          <a:noFill/>
          <a:ln/>
        </p:spPr>
        <p:txBody>
          <a:bodyPr wrap="square" lIns="0" tIns="0" rIns="0" bIns="0" rtlCol="0" anchor="ctr"/>
          <a:lstStyle/>
          <a:p>
            <a:pPr indent="0" marL="0">
              <a:buNone/>
            </a:pPr>
            <a:r>
              <a:rPr lang="en-US" sz="1400" b="1" dirty="0">
                <a:solidFill>
                  <a:srgbClr val="FFE082"/>
                </a:solidFill>
                <a:latin typeface="Calibri" pitchFamily="34" charset="0"/>
                <a:ea typeface="Calibri" pitchFamily="34" charset="-122"/>
                <a:cs typeface="Calibri" pitchFamily="34" charset="-120"/>
              </a:rPr>
              <a:t>«MEMBER 6»</a:t>
            </a:r>
            <a:endParaRPr lang="en-US" sz="1400" dirty="0"/>
          </a:p>
        </p:txBody>
      </p:sp>
      <p:sp>
        <p:nvSpPr>
          <p:cNvPr id="26" name="Text 24"/>
          <p:cNvSpPr txBox="1"/>
          <p:nvPr/>
        </p:nvSpPr>
        <p:spPr>
          <a:xfrm>
            <a:off x="8238744" y="3099816"/>
            <a:ext cx="3200400" cy="219456"/>
          </a:xfrm>
          <a:prstGeom prst="rect">
            <a:avLst/>
          </a:prstGeom>
          <a:noFill/>
          <a:ln/>
        </p:spPr>
        <p:txBody>
          <a:bodyPr wrap="square" lIns="0" tIns="0" rIns="0" bIns="0" rtlCol="0" anchor="ctr"/>
          <a:lstStyle/>
          <a:p>
            <a:pPr indent="0" marL="0">
              <a:buNone/>
            </a:pPr>
            <a:r>
              <a:rPr lang="en-US" sz="1050" dirty="0">
                <a:solidFill>
                  <a:srgbClr val="7FB6F2"/>
                </a:solidFill>
                <a:latin typeface="Calibri" pitchFamily="34" charset="0"/>
                <a:ea typeface="Calibri" pitchFamily="34" charset="-122"/>
                <a:cs typeface="Calibri" pitchFamily="34" charset="-120"/>
              </a:rPr>
              <a:t>«Dept»</a:t>
            </a:r>
            <a:endParaRPr lang="en-US" sz="1050" dirty="0"/>
          </a:p>
        </p:txBody>
      </p:sp>
      <p:sp>
        <p:nvSpPr>
          <p:cNvPr id="27" name="Text 25"/>
          <p:cNvSpPr txBox="1"/>
          <p:nvPr/>
        </p:nvSpPr>
        <p:spPr>
          <a:xfrm>
            <a:off x="8238744" y="3310128"/>
            <a:ext cx="3200400" cy="411480"/>
          </a:xfrm>
          <a:prstGeom prst="rect">
            <a:avLst/>
          </a:prstGeom>
          <a:noFill/>
          <a:ln/>
        </p:spPr>
        <p:txBody>
          <a:bodyPr wrap="square" lIns="0" tIns="0" rIns="0" bIns="0" rtlCol="0" anchor="ctr"/>
          <a:lstStyle/>
          <a:p>
            <a:pPr indent="0" marL="0">
              <a:lnSpc>
                <a:spcPct val="98000"/>
              </a:lnSpc>
              <a:buNone/>
            </a:pPr>
            <a:r>
              <a:rPr lang="en-US" sz="1050" dirty="0">
                <a:solidFill>
                  <a:srgbClr val="B9CBE4"/>
                </a:solidFill>
                <a:latin typeface="Calibri" pitchFamily="34" charset="0"/>
                <a:ea typeface="Calibri" pitchFamily="34" charset="-122"/>
                <a:cs typeface="Calibri" pitchFamily="34" charset="-120"/>
              </a:rPr>
              <a:t>Testing &amp; documentation — fixtures, audit tooling, runbooks</a:t>
            </a:r>
            <a:endParaRPr lang="en-US" sz="1050" dirty="0"/>
          </a:p>
        </p:txBody>
      </p:sp>
      <p:sp>
        <p:nvSpPr>
          <p:cNvPr id="28" name="Text 26"/>
          <p:cNvSpPr txBox="1"/>
          <p:nvPr/>
        </p:nvSpPr>
        <p:spPr>
          <a:xfrm>
            <a:off x="502920" y="4041648"/>
            <a:ext cx="11155680" cy="274320"/>
          </a:xfrm>
          <a:prstGeom prst="rect">
            <a:avLst/>
          </a:prstGeom>
          <a:noFill/>
          <a:ln/>
        </p:spPr>
        <p:txBody>
          <a:bodyPr wrap="square" lIns="0" tIns="0" rIns="0" bIns="0" rtlCol="0" anchor="ctr"/>
          <a:lstStyle/>
          <a:p>
            <a:pPr indent="0" marL="0">
              <a:buNone/>
            </a:pPr>
            <a:r>
              <a:rPr lang="en-US" sz="1300" b="1" dirty="0">
                <a:solidFill>
                  <a:srgbClr val="FFE082"/>
                </a:solidFill>
                <a:latin typeface="Calibri" pitchFamily="34" charset="0"/>
                <a:ea typeface="Calibri" pitchFamily="34" charset="-122"/>
                <a:cs typeface="Calibri" pitchFamily="34" charset="-120"/>
              </a:rPr>
              <a:t>Mentor: «MENTOR NAME» — «Department / Organisation»</a:t>
            </a:r>
            <a:endParaRPr lang="en-US" sz="1300" dirty="0"/>
          </a:p>
        </p:txBody>
      </p:sp>
      <p:sp>
        <p:nvSpPr>
          <p:cNvPr id="29" name="Text 27"/>
          <p:cNvSpPr txBox="1"/>
          <p:nvPr/>
        </p:nvSpPr>
        <p:spPr>
          <a:xfrm>
            <a:off x="502920" y="4498848"/>
            <a:ext cx="5486400" cy="237744"/>
          </a:xfrm>
          <a:prstGeom prst="rect">
            <a:avLst/>
          </a:prstGeom>
          <a:noFill/>
          <a:ln/>
        </p:spPr>
        <p:txBody>
          <a:bodyPr wrap="square" lIns="0" tIns="0" rIns="0" bIns="0" rtlCol="0" anchor="ctr"/>
          <a:lstStyle/>
          <a:p>
            <a:pPr indent="0" marL="0">
              <a:buNone/>
            </a:pPr>
            <a:r>
              <a:rPr lang="en-US" sz="1050" b="1" spc="150" kern="0" dirty="0">
                <a:solidFill>
                  <a:srgbClr val="7FB6F2"/>
                </a:solidFill>
                <a:latin typeface="Calibri" pitchFamily="34" charset="0"/>
                <a:ea typeface="Calibri" pitchFamily="34" charset="-122"/>
                <a:cs typeface="Calibri" pitchFamily="34" charset="-120"/>
              </a:rPr>
              <a:t>REFERENCES</a:t>
            </a:r>
            <a:endParaRPr lang="en-US" sz="1050" dirty="0"/>
          </a:p>
        </p:txBody>
      </p:sp>
      <p:sp>
        <p:nvSpPr>
          <p:cNvPr id="30" name="Text 28"/>
          <p:cNvSpPr txBox="1"/>
          <p:nvPr/>
        </p:nvSpPr>
        <p:spPr>
          <a:xfrm>
            <a:off x="502920" y="4754880"/>
            <a:ext cx="11155680" cy="1737360"/>
          </a:xfrm>
          <a:prstGeom prst="rect">
            <a:avLst/>
          </a:prstGeom>
          <a:noFill/>
          <a:ln/>
        </p:spPr>
        <p:txBody>
          <a:bodyPr wrap="square" lIns="0" tIns="0" rIns="0" bIns="0" rtlCol="0" anchor="ctr"/>
          <a:lstStyle/>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GraphIDS: self-supervised graph IDS with edge aggregation — arXiv:2509.16625  (the Inspector's architecture; prior art, not ours)</a:t>
            </a:r>
            <a:endParaRPr lang="en-US" sz="1050" dirty="0"/>
          </a:p>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Jitkrittum et al., "When does confidence-based cascade deferral suffice?" NeurIPS 2023 — arXiv:2307.02764  (why the router predicts the teacher's flag, not its own uncertainty)</a:t>
            </a:r>
            <a:endParaRPr lang="en-US" sz="1050" dirty="0"/>
          </a:p>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"Knowledge distillation for anomaly detection" — MDPI Machine Learning &amp; Knowledge Extraction 8(3):60  (transfer asymmetry: local outliers move at only 20%)</a:t>
            </a:r>
            <a:endParaRPr lang="en-US" sz="1050" dirty="0"/>
          </a:p>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Kent, A. D., "Comprehensive, Multi-Source Cyber-Security Events" — Los Alamos National Laboratory, 2015  (LANL cyber1: 612 hosts, 13 days, 749 real red-team events)</a:t>
            </a:r>
            <a:endParaRPr lang="en-US" sz="1050" dirty="0"/>
          </a:p>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MITRE ATT&amp;CK T1567 — Exfiltration Over Web Service;  T1102 — Web Service (C2)</a:t>
            </a:r>
            <a:endParaRPr lang="en-US" sz="1050" dirty="0"/>
          </a:p>
          <a:p>
            <a:pPr marL="342900" indent="-342900">
              <a:lnSpc>
                <a:spcPct val="98000"/>
              </a:lnSpc>
              <a:spcAft>
                <a:spcPts val="400"/>
              </a:spcAft>
              <a:buSzPct val="100000"/>
              <a:buChar char="•"/>
            </a:pPr>
            <a:r>
              <a:rPr lang="en-US" sz="1050" dirty="0">
                <a:solidFill>
                  <a:srgbClr val="C6D5E8"/>
                </a:solidFill>
                <a:latin typeface="Calibri" pitchFamily="34" charset="0"/>
                <a:ea typeface="Calibri" pitchFamily="34" charset="-122"/>
                <a:cs typeface="Calibri" pitchFamily="34" charset="-120"/>
              </a:rPr>
              <a:t>The LOTS Project — living-off-trusted-sites domain taxonomy  ·  Zeek Network Security Monitor documentation</a:t>
            </a:r>
            <a:endParaRPr lang="en-US" sz="1050" dirty="0"/>
          </a:p>
        </p:txBody>
      </p:sp>
      <p:sp>
        <p:nvSpPr>
          <p:cNvPr id="31" name="Text 29"/>
          <p:cNvSpPr txBox="1"/>
          <p:nvPr/>
        </p:nvSpPr>
        <p:spPr>
          <a:xfrm>
            <a:off x="502920" y="6419088"/>
            <a:ext cx="11155680" cy="256032"/>
          </a:xfrm>
          <a:prstGeom prst="rect">
            <a:avLst/>
          </a:prstGeom>
          <a:noFill/>
          <a:ln/>
        </p:spPr>
        <p:txBody>
          <a:bodyPr wrap="square" lIns="0" tIns="0" rIns="0" bIns="0" rtlCol="0" anchor="ctr"/>
          <a:lstStyle/>
          <a:p>
            <a:pPr indent="0" marL="0">
              <a:buNone/>
            </a:pPr>
            <a:r>
              <a:rPr lang="en-US" sz="1000" i="1" dirty="0">
                <a:solidFill>
                  <a:srgbClr val="7FB6F2"/>
                </a:solidFill>
                <a:latin typeface="Calibri" pitchFamily="34" charset="0"/>
                <a:ea typeface="Calibri" pitchFamily="34" charset="-122"/>
                <a:cs typeface="Calibri" pitchFamily="34" charset="-120"/>
              </a:rPr>
              <a:t>All measured figures regenerate from v2/lanl_novelty.json, v2/results.json and v2/capture_audit.json.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NetSentinel — Smart India Hackathon 2026</dc:title>
  <dc:subject>PptxGenJS Presentation</dc:subject>
  <dc:creator>Team NetSentinel</dc:creator>
  <cp:lastModifiedBy>Team NetSentinel</cp:lastModifiedBy>
  <cp:revision>1</cp:revision>
  <dcterms:created xsi:type="dcterms:W3CDTF">2026-09-11T06:57:34Z</dcterms:created>
  <dcterms:modified xsi:type="dcterms:W3CDTF">2026-09-11T06:57:34Z</dcterms:modified>
</cp:coreProperties>
</file>